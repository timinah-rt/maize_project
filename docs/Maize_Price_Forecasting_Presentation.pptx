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91695" cy="1371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18320" cy="1097280"/>
          </a:xfrm>
          <a:prstGeom prst="rect">
            <a:avLst/>
          </a:prstGeom>
          <a:noFill/>
        </p:spPr>
        <p:txBody>
          <a:bodyPr wrap="square">
            <a:spAutoFit/>
          </a:bodyPr>
          <a:lstStyle/>
          <a:p>
            <a:pPr algn="ctr">
              <a:defRPr sz="4400" b="1">
                <a:solidFill>
                  <a:srgbClr val="FFFFFF"/>
                </a:solidFill>
              </a:defRPr>
            </a:pPr>
            <a:r>
              <a:t>🌽 MAIZE PRICE FORECASTING SYSTEM</a:t>
            </a:r>
          </a:p>
        </p:txBody>
      </p:sp>
      <p:sp>
        <p:nvSpPr>
          <p:cNvPr id="5" name="TextBox 4"/>
          <p:cNvSpPr txBox="1"/>
          <p:nvPr/>
        </p:nvSpPr>
        <p:spPr>
          <a:xfrm>
            <a:off x="1371600" y="2651760"/>
            <a:ext cx="9418320" cy="731520"/>
          </a:xfrm>
          <a:prstGeom prst="rect">
            <a:avLst/>
          </a:prstGeom>
          <a:noFill/>
        </p:spPr>
        <p:txBody>
          <a:bodyPr wrap="square">
            <a:spAutoFit/>
          </a:bodyPr>
          <a:lstStyle/>
          <a:p>
            <a:pPr algn="ctr">
              <a:defRPr sz="2400" b="0">
                <a:solidFill>
                  <a:srgbClr val="FDE68A"/>
                </a:solidFill>
              </a:defRPr>
            </a:pPr>
            <a:r>
              <a:t>Machine Learning-Based Weekly Price Prediction for Kenyan Counties</a:t>
            </a:r>
          </a:p>
        </p:txBody>
      </p:sp>
      <p:sp>
        <p:nvSpPr>
          <p:cNvPr id="6" name="TextBox 5"/>
          <p:cNvSpPr txBox="1"/>
          <p:nvPr/>
        </p:nvSpPr>
        <p:spPr>
          <a:xfrm>
            <a:off x="1371600" y="3840480"/>
            <a:ext cx="9418320" cy="1371600"/>
          </a:xfrm>
          <a:prstGeom prst="rect">
            <a:avLst/>
          </a:prstGeom>
          <a:noFill/>
        </p:spPr>
        <p:txBody>
          <a:bodyPr wrap="square">
            <a:spAutoFit/>
          </a:bodyPr>
          <a:lstStyle/>
          <a:p>
            <a:pPr algn="ctr">
              <a:defRPr sz="2000" b="0">
                <a:solidFill>
                  <a:srgbClr val="93C5FD"/>
                </a:solidFill>
              </a:defRPr>
            </a:pPr>
            <a:r>
              <a:t>A Pooled XGBoost Approach with County-Level Fine-Tuning</a:t>
            </a:r>
          </a:p>
          <a:p>
            <a:pPr algn="l">
              <a:spcBef>
                <a:spcPts val="0"/>
              </a:spcBef>
              <a:defRPr sz="1600" b="0">
                <a:solidFill>
                  <a:srgbClr val="9CA3AF"/>
                </a:solidFill>
              </a:defRPr>
            </a:pPr>
            <a:r>
              <a:t>Interactive Streamlit Dashboard  •  Expanding Window Cross-Validation  •  MASE &amp; Directional Accuracy</a:t>
            </a:r>
          </a:p>
          <a:p>
            <a:pPr algn="ctr">
              <a:spcBef>
                <a:spcPts val="2400"/>
              </a:spcBef>
              <a:defRPr sz="1800" b="1">
                <a:solidFill>
                  <a:srgbClr val="FFFFFF"/>
                </a:solidFill>
              </a:defRPr>
            </a:pPr>
            <a:r>
              <a:t>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058400" cy="731520"/>
          </a:xfrm>
          <a:prstGeom prst="rect">
            <a:avLst/>
          </a:prstGeom>
          <a:noFill/>
        </p:spPr>
        <p:txBody>
          <a:bodyPr wrap="square">
            <a:spAutoFit/>
          </a:bodyPr>
          <a:lstStyle/>
          <a:p>
            <a:pPr algn="l">
              <a:defRPr sz="3200" b="1">
                <a:solidFill>
                  <a:srgbClr val="1E3A5F"/>
                </a:solidFill>
              </a:defRPr>
            </a:pPr>
            <a:r>
              <a:t>TABLE OF CONTENTS</a:t>
            </a:r>
          </a:p>
        </p:txBody>
      </p:sp>
      <p:sp>
        <p:nvSpPr>
          <p:cNvPr id="4" name="TextBox 3"/>
          <p:cNvSpPr txBox="1"/>
          <p:nvPr/>
        </p:nvSpPr>
        <p:spPr>
          <a:xfrm>
            <a:off x="1097280" y="1554480"/>
            <a:ext cx="10058400" cy="502920"/>
          </a:xfrm>
          <a:prstGeom prst="rect">
            <a:avLst/>
          </a:prstGeom>
          <a:noFill/>
        </p:spPr>
        <p:txBody>
          <a:bodyPr wrap="square">
            <a:spAutoFit/>
          </a:bodyPr>
          <a:lstStyle/>
          <a:p>
            <a:pPr algn="l">
              <a:defRPr sz="2000" b="1">
                <a:solidFill>
                  <a:srgbClr val="1E3A5F"/>
                </a:solidFill>
              </a:defRPr>
            </a:pPr>
            <a:r>
              <a:t>  1.  Introduction</a:t>
            </a:r>
          </a:p>
          <a:p>
            <a:pPr algn="l">
              <a:spcBef>
                <a:spcPts val="600"/>
              </a:spcBef>
              <a:defRPr sz="1400" b="0">
                <a:solidFill>
                  <a:srgbClr val="6B7280"/>
                </a:solidFill>
              </a:defRPr>
            </a:pPr>
            <a:r>
              <a:t>         Project overview, background &amp; importance of maize in Kenya</a:t>
            </a:r>
          </a:p>
        </p:txBody>
      </p:sp>
      <p:sp>
        <p:nvSpPr>
          <p:cNvPr id="5" name="TextBox 4"/>
          <p:cNvSpPr txBox="1"/>
          <p:nvPr/>
        </p:nvSpPr>
        <p:spPr>
          <a:xfrm>
            <a:off x="1097280" y="2176272"/>
            <a:ext cx="10058400" cy="502920"/>
          </a:xfrm>
          <a:prstGeom prst="rect">
            <a:avLst/>
          </a:prstGeom>
          <a:noFill/>
        </p:spPr>
        <p:txBody>
          <a:bodyPr wrap="square">
            <a:spAutoFit/>
          </a:bodyPr>
          <a:lstStyle/>
          <a:p>
            <a:pPr algn="l">
              <a:defRPr sz="2000" b="1">
                <a:solidFill>
                  <a:srgbClr val="1E3A5F"/>
                </a:solidFill>
              </a:defRPr>
            </a:pPr>
            <a:r>
              <a:t>  2.  Problem Statement</a:t>
            </a:r>
          </a:p>
          <a:p>
            <a:pPr algn="l">
              <a:spcBef>
                <a:spcPts val="600"/>
              </a:spcBef>
              <a:defRPr sz="1400" b="0">
                <a:solidFill>
                  <a:srgbClr val="6B7280"/>
                </a:solidFill>
              </a:defRPr>
            </a:pPr>
            <a:r>
              <a:t>         Key challenges across the maize value chain</a:t>
            </a:r>
          </a:p>
        </p:txBody>
      </p:sp>
      <p:sp>
        <p:nvSpPr>
          <p:cNvPr id="6" name="TextBox 5"/>
          <p:cNvSpPr txBox="1"/>
          <p:nvPr/>
        </p:nvSpPr>
        <p:spPr>
          <a:xfrm>
            <a:off x="1097280" y="2798064"/>
            <a:ext cx="10058400" cy="502920"/>
          </a:xfrm>
          <a:prstGeom prst="rect">
            <a:avLst/>
          </a:prstGeom>
          <a:noFill/>
        </p:spPr>
        <p:txBody>
          <a:bodyPr wrap="square">
            <a:spAutoFit/>
          </a:bodyPr>
          <a:lstStyle/>
          <a:p>
            <a:pPr algn="l">
              <a:defRPr sz="2000" b="1">
                <a:solidFill>
                  <a:srgbClr val="1E3A5F"/>
                </a:solidFill>
              </a:defRPr>
            </a:pPr>
            <a:r>
              <a:t>  3.  Proposed Solution</a:t>
            </a:r>
          </a:p>
          <a:p>
            <a:pPr algn="l">
              <a:spcBef>
                <a:spcPts val="600"/>
              </a:spcBef>
              <a:defRPr sz="1400" b="0">
                <a:solidFill>
                  <a:srgbClr val="6B7280"/>
                </a:solidFill>
              </a:defRPr>
            </a:pPr>
            <a:r>
              <a:t>         ML-based forecasting system architecture</a:t>
            </a:r>
          </a:p>
        </p:txBody>
      </p:sp>
      <p:sp>
        <p:nvSpPr>
          <p:cNvPr id="7" name="TextBox 6"/>
          <p:cNvSpPr txBox="1"/>
          <p:nvPr/>
        </p:nvSpPr>
        <p:spPr>
          <a:xfrm>
            <a:off x="1097280" y="3419856"/>
            <a:ext cx="10058400" cy="502920"/>
          </a:xfrm>
          <a:prstGeom prst="rect">
            <a:avLst/>
          </a:prstGeom>
          <a:noFill/>
        </p:spPr>
        <p:txBody>
          <a:bodyPr wrap="square">
            <a:spAutoFit/>
          </a:bodyPr>
          <a:lstStyle/>
          <a:p>
            <a:pPr algn="l">
              <a:defRPr sz="2000" b="1">
                <a:solidFill>
                  <a:srgbClr val="1E3A5F"/>
                </a:solidFill>
              </a:defRPr>
            </a:pPr>
            <a:r>
              <a:t>  4.  Research Objectives</a:t>
            </a:r>
          </a:p>
          <a:p>
            <a:pPr algn="l">
              <a:spcBef>
                <a:spcPts val="600"/>
              </a:spcBef>
              <a:defRPr sz="1400" b="0">
                <a:solidFill>
                  <a:srgbClr val="6B7280"/>
                </a:solidFill>
              </a:defRPr>
            </a:pPr>
            <a:r>
              <a:t>         Main objective &amp; 7 specific objectives</a:t>
            </a:r>
          </a:p>
        </p:txBody>
      </p:sp>
      <p:sp>
        <p:nvSpPr>
          <p:cNvPr id="8" name="TextBox 7"/>
          <p:cNvSpPr txBox="1"/>
          <p:nvPr/>
        </p:nvSpPr>
        <p:spPr>
          <a:xfrm>
            <a:off x="1097280" y="4041648"/>
            <a:ext cx="10058400" cy="502920"/>
          </a:xfrm>
          <a:prstGeom prst="rect">
            <a:avLst/>
          </a:prstGeom>
          <a:noFill/>
        </p:spPr>
        <p:txBody>
          <a:bodyPr wrap="square">
            <a:spAutoFit/>
          </a:bodyPr>
          <a:lstStyle/>
          <a:p>
            <a:pPr algn="l">
              <a:defRPr sz="2000" b="1">
                <a:solidFill>
                  <a:srgbClr val="1E3A5F"/>
                </a:solidFill>
              </a:defRPr>
            </a:pPr>
            <a:r>
              <a:t>  5.  Source of Data</a:t>
            </a:r>
          </a:p>
          <a:p>
            <a:pPr algn="l">
              <a:spcBef>
                <a:spcPts val="600"/>
              </a:spcBef>
              <a:defRPr sz="1400" b="0">
                <a:solidFill>
                  <a:srgbClr val="6B7280"/>
                </a:solidFill>
              </a:defRPr>
            </a:pPr>
            <a:r>
              <a:t>         KAMIS, AgriBORA, Weather &amp; Economic data sources</a:t>
            </a:r>
          </a:p>
        </p:txBody>
      </p:sp>
      <p:sp>
        <p:nvSpPr>
          <p:cNvPr id="9" name="TextBox 8"/>
          <p:cNvSpPr txBox="1"/>
          <p:nvPr/>
        </p:nvSpPr>
        <p:spPr>
          <a:xfrm>
            <a:off x="1097280" y="4663440"/>
            <a:ext cx="10058400" cy="502920"/>
          </a:xfrm>
          <a:prstGeom prst="rect">
            <a:avLst/>
          </a:prstGeom>
          <a:noFill/>
        </p:spPr>
        <p:txBody>
          <a:bodyPr wrap="square">
            <a:spAutoFit/>
          </a:bodyPr>
          <a:lstStyle/>
          <a:p>
            <a:pPr algn="l">
              <a:defRPr sz="2000" b="1">
                <a:solidFill>
                  <a:srgbClr val="1E3A5F"/>
                </a:solidFill>
              </a:defRPr>
            </a:pPr>
            <a:r>
              <a:t>  6.  Methodology Overview</a:t>
            </a:r>
          </a:p>
          <a:p>
            <a:pPr algn="l">
              <a:spcBef>
                <a:spcPts val="600"/>
              </a:spcBef>
              <a:defRPr sz="1400" b="0">
                <a:solidFill>
                  <a:srgbClr val="6B7280"/>
                </a:solidFill>
              </a:defRPr>
            </a:pPr>
            <a:r>
              <a:t>         Pooled XGBoost, features, cross-validation</a:t>
            </a:r>
          </a:p>
        </p:txBody>
      </p:sp>
      <p:sp>
        <p:nvSpPr>
          <p:cNvPr id="10" name="TextBox 9"/>
          <p:cNvSpPr txBox="1"/>
          <p:nvPr/>
        </p:nvSpPr>
        <p:spPr>
          <a:xfrm>
            <a:off x="1097280" y="5285231"/>
            <a:ext cx="10058400" cy="502920"/>
          </a:xfrm>
          <a:prstGeom prst="rect">
            <a:avLst/>
          </a:prstGeom>
          <a:noFill/>
        </p:spPr>
        <p:txBody>
          <a:bodyPr wrap="square">
            <a:spAutoFit/>
          </a:bodyPr>
          <a:lstStyle/>
          <a:p>
            <a:pPr algn="l">
              <a:defRPr sz="2000" b="1">
                <a:solidFill>
                  <a:srgbClr val="1E3A5F"/>
                </a:solidFill>
              </a:defRPr>
            </a:pPr>
            <a:r>
              <a:t>  7.  Model Performance</a:t>
            </a:r>
          </a:p>
          <a:p>
            <a:pPr algn="l">
              <a:spcBef>
                <a:spcPts val="600"/>
              </a:spcBef>
              <a:defRPr sz="1400" b="0">
                <a:solidFill>
                  <a:srgbClr val="6B7280"/>
                </a:solidFill>
              </a:defRPr>
            </a:pPr>
            <a:r>
              <a:t>         MASE, Directional Accuracy, MAE, sMAPE results</a:t>
            </a:r>
          </a:p>
        </p:txBody>
      </p:sp>
      <p:sp>
        <p:nvSpPr>
          <p:cNvPr id="11" name="TextBox 10"/>
          <p:cNvSpPr txBox="1"/>
          <p:nvPr/>
        </p:nvSpPr>
        <p:spPr>
          <a:xfrm>
            <a:off x="1097280" y="5907023"/>
            <a:ext cx="10058400" cy="502920"/>
          </a:xfrm>
          <a:prstGeom prst="rect">
            <a:avLst/>
          </a:prstGeom>
          <a:noFill/>
        </p:spPr>
        <p:txBody>
          <a:bodyPr wrap="square">
            <a:spAutoFit/>
          </a:bodyPr>
          <a:lstStyle/>
          <a:p>
            <a:pPr algn="l">
              <a:defRPr sz="2000" b="1">
                <a:solidFill>
                  <a:srgbClr val="1E3A5F"/>
                </a:solidFill>
              </a:defRPr>
            </a:pPr>
            <a:r>
              <a:t>  8.  Dashboard Features</a:t>
            </a:r>
          </a:p>
          <a:p>
            <a:pPr algn="l">
              <a:spcBef>
                <a:spcPts val="600"/>
              </a:spcBef>
              <a:defRPr sz="1400" b="0">
                <a:solidFill>
                  <a:srgbClr val="6B7280"/>
                </a:solidFill>
              </a:defRPr>
            </a:pPr>
            <a:r>
              <a:t>         Interactive Streamlit application walkthrough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1. INTRODUCTION</a:t>
            </a:r>
          </a:p>
        </p:txBody>
      </p:sp>
      <p:sp>
        <p:nvSpPr>
          <p:cNvPr id="5" name="TextBox 4"/>
          <p:cNvSpPr txBox="1"/>
          <p:nvPr/>
        </p:nvSpPr>
        <p:spPr>
          <a:xfrm>
            <a:off x="731520" y="1554480"/>
            <a:ext cx="10515600" cy="5029200"/>
          </a:xfrm>
          <a:prstGeom prst="rect">
            <a:avLst/>
          </a:prstGeom>
          <a:noFill/>
        </p:spPr>
        <p:txBody>
          <a:bodyPr wrap="square">
            <a:spAutoFit/>
          </a:bodyPr>
          <a:lstStyle/>
          <a:p>
            <a:pPr algn="l">
              <a:defRPr sz="2200" b="1">
                <a:solidFill>
                  <a:srgbClr val="1E3A5F"/>
                </a:solidFill>
              </a:defRPr>
            </a:pPr>
            <a:r>
              <a:t>What is this project?</a:t>
            </a:r>
          </a:p>
          <a:p>
            <a:pPr algn="l">
              <a:spcBef>
                <a:spcPts val="800"/>
              </a:spcBef>
              <a:defRPr sz="1600" b="0">
                <a:solidFill>
                  <a:srgbClr val="374767"/>
                </a:solidFill>
              </a:defRPr>
            </a:pPr>
            <a:r>
              <a:t>A machine learning-based maize price forecasting system that predicts weekly wholesale maize prices across 5 major Kenyan counties (Nairobi, Mombasa, Kiambu, Kirinyaga, Uasin-Gishu) using a pooled XGBoost model with county-level predictions.</a:t>
            </a:r>
          </a:p>
          <a:p>
            <a:pPr algn="l">
              <a:spcBef>
                <a:spcPts val="2400"/>
              </a:spcBef>
              <a:defRPr sz="2200" b="1">
                <a:solidFill>
                  <a:srgbClr val="1E3A5F"/>
                </a:solidFill>
              </a:defRPr>
            </a:pPr>
            <a:r>
              <a:t>Why is this important?</a:t>
            </a:r>
          </a:p>
          <a:p>
            <a:pPr algn="l">
              <a:spcBef>
                <a:spcPts val="800"/>
              </a:spcBef>
              <a:defRPr sz="1600" b="0">
                <a:solidFill>
                  <a:srgbClr val="374767"/>
                </a:solidFill>
              </a:defRPr>
            </a:pPr>
            <a:r>
              <a:t>Maize is Kenya's primary staple food — the average Kenyan consumes 98 kg of maize per year. The maize sector involves 4.5 million smallholder farmers and employs 10 million people across the value chain. Price volatility directly affects food security and household welfare for millions of Kenyans.</a:t>
            </a:r>
          </a:p>
          <a:p>
            <a:pPr algn="l">
              <a:spcBef>
                <a:spcPts val="2400"/>
              </a:spcBef>
              <a:defRPr sz="2200" b="1">
                <a:solidFill>
                  <a:srgbClr val="1E3A5F"/>
                </a:solidFill>
              </a:defRPr>
            </a:pPr>
            <a:r>
              <a:t>Key Innovation:</a:t>
            </a:r>
          </a:p>
          <a:p>
            <a:pPr algn="l">
              <a:spcBef>
                <a:spcPts val="800"/>
              </a:spcBef>
              <a:defRPr sz="1600" b="0">
                <a:solidFill>
                  <a:srgbClr val="374767"/>
                </a:solidFill>
              </a:defRPr>
            </a:pPr>
            <a:r>
              <a:t>Uses Δ-price (week-over-week change) as the prediction target instead of absolute prices, combined with a pooled training approach that shares information across counties while preserving county-specific patterns via one-hot encoding.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BACKGROUND — Kenya's Maize Sector</a:t>
            </a:r>
          </a:p>
        </p:txBody>
      </p:sp>
      <p:sp>
        <p:nvSpPr>
          <p:cNvPr id="5" name="TextBox 4"/>
          <p:cNvSpPr txBox="1"/>
          <p:nvPr/>
        </p:nvSpPr>
        <p:spPr>
          <a:xfrm>
            <a:off x="731520" y="1554480"/>
            <a:ext cx="5029200" cy="4846320"/>
          </a:xfrm>
          <a:prstGeom prst="rect">
            <a:avLst/>
          </a:prstGeom>
          <a:noFill/>
        </p:spPr>
        <p:txBody>
          <a:bodyPr wrap="square">
            <a:spAutoFit/>
          </a:bodyPr>
          <a:lstStyle/>
          <a:p>
            <a:pPr algn="l">
              <a:defRPr sz="2200" b="1">
                <a:solidFill>
                  <a:srgbClr val="1E3A5F"/>
                </a:solidFill>
              </a:defRPr>
            </a:pPr>
            <a:r>
              <a:t>Key Statistics</a:t>
            </a:r>
          </a:p>
          <a:p>
            <a:pPr>
              <a:spcBef>
                <a:spcPts val="400"/>
              </a:spcBef>
              <a:defRPr sz="1500" b="0">
                <a:solidFill>
                  <a:srgbClr val="374767"/>
                </a:solidFill>
              </a:defRPr>
            </a:pPr>
            <a:r>
              <a:t>Agriculture contributes 33% to Kenya's GDP</a:t>
            </a:r>
          </a:p>
          <a:p>
            <a:pPr>
              <a:spcBef>
                <a:spcPts val="400"/>
              </a:spcBef>
              <a:defRPr sz="1500" b="0">
                <a:solidFill>
                  <a:srgbClr val="374767"/>
                </a:solidFill>
              </a:defRPr>
            </a:pPr>
            <a:r>
              <a:t>4.5 million smallholder farmers grow maize</a:t>
            </a:r>
          </a:p>
          <a:p>
            <a:pPr>
              <a:spcBef>
                <a:spcPts val="400"/>
              </a:spcBef>
              <a:defRPr sz="1500" b="0">
                <a:solidFill>
                  <a:srgbClr val="374767"/>
                </a:solidFill>
              </a:defRPr>
            </a:pPr>
            <a:r>
              <a:t>Average farm size: &lt; 2 hectares</a:t>
            </a:r>
          </a:p>
          <a:p>
            <a:pPr>
              <a:spcBef>
                <a:spcPts val="400"/>
              </a:spcBef>
              <a:defRPr sz="1500" b="0">
                <a:solidFill>
                  <a:srgbClr val="374767"/>
                </a:solidFill>
              </a:defRPr>
            </a:pPr>
            <a:r>
              <a:t>Annual production: ~40 million bags (90 kg each)</a:t>
            </a:r>
          </a:p>
          <a:p>
            <a:pPr>
              <a:spcBef>
                <a:spcPts val="400"/>
              </a:spcBef>
              <a:defRPr sz="1500" b="0">
                <a:solidFill>
                  <a:srgbClr val="374767"/>
                </a:solidFill>
              </a:defRPr>
            </a:pPr>
            <a:r>
              <a:t>Annual consumption: ~44 million bags — structural deficit</a:t>
            </a:r>
          </a:p>
          <a:p>
            <a:pPr>
              <a:spcBef>
                <a:spcPts val="400"/>
              </a:spcBef>
              <a:defRPr sz="1500" b="0">
                <a:solidFill>
                  <a:srgbClr val="374767"/>
                </a:solidFill>
              </a:defRPr>
            </a:pPr>
            <a:r>
              <a:t>Import dependency: Uganda &amp; Tanzania</a:t>
            </a:r>
          </a:p>
          <a:p>
            <a:pPr>
              <a:spcBef>
                <a:spcPts val="400"/>
              </a:spcBef>
              <a:defRPr sz="1500" b="0">
                <a:solidFill>
                  <a:srgbClr val="374767"/>
                </a:solidFill>
              </a:defRPr>
            </a:pPr>
            <a:r>
              <a:t>98 kg per capita annual maize consumption</a:t>
            </a:r>
          </a:p>
          <a:p>
            <a:pPr>
              <a:spcBef>
                <a:spcPts val="400"/>
              </a:spcBef>
              <a:defRPr sz="1500" b="0">
                <a:solidFill>
                  <a:srgbClr val="374767"/>
                </a:solidFill>
              </a:defRPr>
            </a:pPr>
            <a:r>
              <a:t>10 million people employed across the value chain</a:t>
            </a:r>
          </a:p>
        </p:txBody>
      </p:sp>
      <p:sp>
        <p:nvSpPr>
          <p:cNvPr id="6" name="Rectangle 5"/>
          <p:cNvSpPr/>
          <p:nvPr/>
        </p:nvSpPr>
        <p:spPr>
          <a:xfrm>
            <a:off x="6400800" y="1554480"/>
            <a:ext cx="5029200" cy="48463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737360"/>
            <a:ext cx="4572000" cy="4572000"/>
          </a:xfrm>
          <a:prstGeom prst="rect">
            <a:avLst/>
          </a:prstGeom>
          <a:noFill/>
        </p:spPr>
        <p:txBody>
          <a:bodyPr wrap="square">
            <a:spAutoFit/>
          </a:bodyPr>
          <a:lstStyle/>
          <a:p>
            <a:pPr algn="l">
              <a:defRPr sz="2200" b="1">
                <a:solidFill>
                  <a:srgbClr val="3B82F6"/>
                </a:solidFill>
              </a:defRPr>
            </a:pPr>
            <a:r>
              <a:t>Price Volatility Realities</a:t>
            </a:r>
          </a:p>
          <a:p>
            <a:pPr>
              <a:spcBef>
                <a:spcPts val="400"/>
              </a:spcBef>
              <a:defRPr sz="1500" b="0">
                <a:solidFill>
                  <a:srgbClr val="374767"/>
                </a:solidFill>
              </a:defRPr>
            </a:pPr>
            <a:r>
              <a:t>Nairobi range: KES 30 — 58/kg (93% swing)</a:t>
            </a:r>
          </a:p>
          <a:p>
            <a:pPr>
              <a:spcBef>
                <a:spcPts val="400"/>
              </a:spcBef>
              <a:defRPr sz="1500" b="0">
                <a:solidFill>
                  <a:srgbClr val="374767"/>
                </a:solidFill>
              </a:defRPr>
            </a:pPr>
            <a:r>
              <a:t>A 90 kg bag fluctuates from KES 2,520 to KES 4,680</a:t>
            </a:r>
          </a:p>
          <a:p>
            <a:pPr>
              <a:spcBef>
                <a:spcPts val="400"/>
              </a:spcBef>
              <a:defRPr sz="1500" b="0">
                <a:solidFill>
                  <a:srgbClr val="374767"/>
                </a:solidFill>
              </a:defRPr>
            </a:pPr>
            <a:r>
              <a:t>For a farmer with 20 bags: ±KES 40,000 income risk</a:t>
            </a:r>
          </a:p>
          <a:p>
            <a:pPr>
              <a:spcBef>
                <a:spcPts val="400"/>
              </a:spcBef>
              <a:defRPr sz="1500" b="0">
                <a:solidFill>
                  <a:srgbClr val="374767"/>
                </a:solidFill>
              </a:defRPr>
            </a:pPr>
            <a:r>
              <a:t>Urban households spend ~30% of food budget on maize</a:t>
            </a:r>
          </a:p>
          <a:p>
            <a:pPr>
              <a:spcBef>
                <a:spcPts val="400"/>
              </a:spcBef>
              <a:defRPr sz="1500" b="0">
                <a:solidFill>
                  <a:srgbClr val="374767"/>
                </a:solidFill>
              </a:defRPr>
            </a:pPr>
            <a:r>
              <a:t>Price spikes add KES 500-800/month to poor households</a:t>
            </a:r>
          </a:p>
        </p:txBody>
      </p:sp>
      <p:sp>
        <p:nvSpPr>
          <p:cNvPr id="8" name="TextBox 7"/>
          <p:cNvSpPr txBox="1"/>
          <p:nvPr/>
        </p:nvSpPr>
        <p:spPr>
          <a:xfrm>
            <a:off x="6675120" y="4754880"/>
            <a:ext cx="4572000" cy="731520"/>
          </a:xfrm>
          <a:prstGeom prst="rect">
            <a:avLst/>
          </a:prstGeom>
          <a:noFill/>
        </p:spPr>
        <p:txBody>
          <a:bodyPr wrap="square">
            <a:spAutoFit/>
          </a:bodyPr>
          <a:lstStyle/>
          <a:p>
            <a:pPr algn="l">
              <a:defRPr sz="1300" b="0">
                <a:solidFill>
                  <a:srgbClr val="6B7280"/>
                </a:solidFill>
              </a:defRPr>
            </a:pPr>
            <a:r>
              <a:t>5 target counties cover Kenya's key maize markets: capital city (Nairobi), port city (Mombasa), surplus-producing highlands (Uasin-Gishu), and mixed farming zones (Kiambu, Kirinyaga)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2. PROBLEM STATEMENT</a:t>
            </a:r>
          </a:p>
        </p:txBody>
      </p:sp>
      <p:sp>
        <p:nvSpPr>
          <p:cNvPr id="5" name="Rectangle 4"/>
          <p:cNvSpPr/>
          <p:nvPr/>
        </p:nvSpPr>
        <p:spPr>
          <a:xfrm>
            <a:off x="731520" y="1554480"/>
            <a:ext cx="5120640" cy="210312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12064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572000" cy="1737360"/>
          </a:xfrm>
          <a:prstGeom prst="rect">
            <a:avLst/>
          </a:prstGeom>
          <a:noFill/>
        </p:spPr>
        <p:txBody>
          <a:bodyPr wrap="square">
            <a:spAutoFit/>
          </a:bodyPr>
          <a:lstStyle/>
          <a:p>
            <a:pPr algn="l">
              <a:defRPr sz="1800" b="1">
                <a:solidFill>
                  <a:srgbClr val="EA580C"/>
                </a:solidFill>
              </a:defRPr>
            </a:pPr>
            <a:r>
              <a:t>👨‍🌾 Farmers</a:t>
            </a:r>
          </a:p>
          <a:p>
            <a:pPr algn="l">
              <a:spcBef>
                <a:spcPts val="200"/>
              </a:spcBef>
              <a:defRPr sz="1300" b="0">
                <a:solidFill>
                  <a:srgbClr val="374767"/>
                </a:solidFill>
              </a:defRPr>
            </a:pPr>
            <a:r>
              <a:t>• No price forecasts → sell at harvest low</a:t>
            </a:r>
          </a:p>
          <a:p>
            <a:pPr algn="l">
              <a:spcBef>
                <a:spcPts val="200"/>
              </a:spcBef>
              <a:defRPr sz="1300" b="0">
                <a:solidFill>
                  <a:srgbClr val="374767"/>
                </a:solidFill>
              </a:defRPr>
            </a:pPr>
            <a:r>
              <a:t>• Distress sales to middlemen</a:t>
            </a:r>
          </a:p>
          <a:p>
            <a:pPr algn="l">
              <a:spcBef>
                <a:spcPts val="200"/>
              </a:spcBef>
              <a:defRPr sz="1300" b="0">
                <a:solidFill>
                  <a:srgbClr val="374767"/>
                </a:solidFill>
              </a:defRPr>
            </a:pPr>
            <a:r>
              <a:t>• Lost income: up to KES 40,000/season</a:t>
            </a:r>
          </a:p>
        </p:txBody>
      </p:sp>
      <p:sp>
        <p:nvSpPr>
          <p:cNvPr id="8" name="Rectangle 7"/>
          <p:cNvSpPr/>
          <p:nvPr/>
        </p:nvSpPr>
        <p:spPr>
          <a:xfrm>
            <a:off x="6309360" y="1554480"/>
            <a:ext cx="5120640" cy="210312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554480"/>
            <a:ext cx="512064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37360"/>
            <a:ext cx="4572000" cy="1737360"/>
          </a:xfrm>
          <a:prstGeom prst="rect">
            <a:avLst/>
          </a:prstGeom>
          <a:noFill/>
        </p:spPr>
        <p:txBody>
          <a:bodyPr wrap="square">
            <a:spAutoFit/>
          </a:bodyPr>
          <a:lstStyle/>
          <a:p>
            <a:pPr algn="l">
              <a:defRPr sz="1800" b="1">
                <a:solidFill>
                  <a:srgbClr val="16A34A"/>
                </a:solidFill>
              </a:defRPr>
            </a:pPr>
            <a:r>
              <a:t>🏪 Traders &amp; Millers</a:t>
            </a:r>
          </a:p>
          <a:p>
            <a:pPr algn="l">
              <a:spcBef>
                <a:spcPts val="200"/>
              </a:spcBef>
              <a:defRPr sz="1300" b="0">
                <a:solidFill>
                  <a:srgbClr val="374767"/>
                </a:solidFill>
              </a:defRPr>
            </a:pPr>
            <a:r>
              <a:t>• Weekly procurement: KES 2.8-5.2M</a:t>
            </a:r>
          </a:p>
          <a:p>
            <a:pPr algn="l">
              <a:spcBef>
                <a:spcPts val="200"/>
              </a:spcBef>
              <a:defRPr sz="1300" b="0">
                <a:solidFill>
                  <a:srgbClr val="374767"/>
                </a:solidFill>
              </a:defRPr>
            </a:pPr>
            <a:r>
              <a:t>• Inventory holding costs vs stock-outs</a:t>
            </a:r>
          </a:p>
          <a:p>
            <a:pPr algn="l">
              <a:spcBef>
                <a:spcPts val="200"/>
              </a:spcBef>
              <a:defRPr sz="1300" b="0">
                <a:solidFill>
                  <a:srgbClr val="374767"/>
                </a:solidFill>
              </a:defRPr>
            </a:pPr>
            <a:r>
              <a:t>• No hedging tools available</a:t>
            </a:r>
          </a:p>
        </p:txBody>
      </p:sp>
      <p:sp>
        <p:nvSpPr>
          <p:cNvPr id="11" name="Rectangle 10"/>
          <p:cNvSpPr/>
          <p:nvPr/>
        </p:nvSpPr>
        <p:spPr>
          <a:xfrm>
            <a:off x="731520" y="3931920"/>
            <a:ext cx="5120640" cy="21031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931920"/>
            <a:ext cx="51206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14800"/>
            <a:ext cx="4572000" cy="1737360"/>
          </a:xfrm>
          <a:prstGeom prst="rect">
            <a:avLst/>
          </a:prstGeom>
          <a:noFill/>
        </p:spPr>
        <p:txBody>
          <a:bodyPr wrap="square">
            <a:spAutoFit/>
          </a:bodyPr>
          <a:lstStyle/>
          <a:p>
            <a:pPr algn="l">
              <a:defRPr sz="1800" b="1">
                <a:solidFill>
                  <a:srgbClr val="3B82F6"/>
                </a:solidFill>
              </a:defRPr>
            </a:pPr>
            <a:r>
              <a:t>🏛 Policymakers</a:t>
            </a:r>
          </a:p>
          <a:p>
            <a:pPr algn="l">
              <a:spcBef>
                <a:spcPts val="200"/>
              </a:spcBef>
              <a:defRPr sz="1300" b="0">
                <a:solidFill>
                  <a:srgbClr val="374767"/>
                </a:solidFill>
              </a:defRPr>
            </a:pPr>
            <a:r>
              <a:t>• Reactive crisis response only</a:t>
            </a:r>
          </a:p>
          <a:p>
            <a:pPr algn="l">
              <a:spcBef>
                <a:spcPts val="200"/>
              </a:spcBef>
              <a:defRPr sz="1300" b="0">
                <a:solidFill>
                  <a:srgbClr val="374767"/>
                </a:solidFill>
              </a:defRPr>
            </a:pPr>
            <a:r>
              <a:t>• Import permits after prices spike</a:t>
            </a:r>
          </a:p>
          <a:p>
            <a:pPr algn="l">
              <a:spcBef>
                <a:spcPts val="200"/>
              </a:spcBef>
              <a:defRPr sz="1300" b="0">
                <a:solidFill>
                  <a:srgbClr val="374767"/>
                </a:solidFill>
              </a:defRPr>
            </a:pPr>
            <a:r>
              <a:t>• No early warning system</a:t>
            </a:r>
          </a:p>
        </p:txBody>
      </p:sp>
      <p:sp>
        <p:nvSpPr>
          <p:cNvPr id="14" name="Rectangle 13"/>
          <p:cNvSpPr/>
          <p:nvPr/>
        </p:nvSpPr>
        <p:spPr>
          <a:xfrm>
            <a:off x="6309360" y="3931920"/>
            <a:ext cx="5120640" cy="210312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3931920"/>
            <a:ext cx="512064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114800"/>
            <a:ext cx="4572000" cy="1737360"/>
          </a:xfrm>
          <a:prstGeom prst="rect">
            <a:avLst/>
          </a:prstGeom>
          <a:noFill/>
        </p:spPr>
        <p:txBody>
          <a:bodyPr wrap="square">
            <a:spAutoFit/>
          </a:bodyPr>
          <a:lstStyle/>
          <a:p>
            <a:pPr algn="l">
              <a:defRPr sz="1800" b="1">
                <a:solidFill>
                  <a:srgbClr val="DC2626"/>
                </a:solidFill>
              </a:defRPr>
            </a:pPr>
            <a:r>
              <a:t>👪 Consumers</a:t>
            </a:r>
          </a:p>
          <a:p>
            <a:pPr algn="l">
              <a:spcBef>
                <a:spcPts val="200"/>
              </a:spcBef>
              <a:defRPr sz="1300" b="0">
                <a:solidFill>
                  <a:srgbClr val="374767"/>
                </a:solidFill>
              </a:defRPr>
            </a:pPr>
            <a:r>
              <a:t>• 30% of food budget on maize</a:t>
            </a:r>
          </a:p>
          <a:p>
            <a:pPr algn="l">
              <a:spcBef>
                <a:spcPts val="200"/>
              </a:spcBef>
              <a:defRPr sz="1300" b="0">
                <a:solidFill>
                  <a:srgbClr val="374767"/>
                </a:solidFill>
              </a:defRPr>
            </a:pPr>
            <a:r>
              <a:t>• Price spikes add KES 800/month</a:t>
            </a:r>
          </a:p>
          <a:p>
            <a:pPr algn="l">
              <a:spcBef>
                <a:spcPts val="200"/>
              </a:spcBef>
              <a:defRPr sz="1300" b="0">
                <a:solidFill>
                  <a:srgbClr val="374767"/>
                </a:solidFill>
              </a:defRPr>
            </a:pPr>
            <a:r>
              <a:t>• Vulnerable → food insecurity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2. PROBLEM STATEMENT — Limitations of Current Approaches</a:t>
            </a:r>
          </a:p>
        </p:txBody>
      </p:sp>
      <p:sp>
        <p:nvSpPr>
          <p:cNvPr id="5" name="Rectangle 4"/>
          <p:cNvSpPr/>
          <p:nvPr/>
        </p:nvSpPr>
        <p:spPr>
          <a:xfrm>
            <a:off x="731520" y="155448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2926080" cy="1645920"/>
          </a:xfrm>
          <a:prstGeom prst="rect">
            <a:avLst/>
          </a:prstGeom>
          <a:noFill/>
        </p:spPr>
        <p:txBody>
          <a:bodyPr wrap="square">
            <a:spAutoFit/>
          </a:bodyPr>
          <a:lstStyle/>
          <a:p>
            <a:pPr algn="l">
              <a:defRPr sz="1600" b="1">
                <a:solidFill>
                  <a:srgbClr val="DC2626"/>
                </a:solidFill>
              </a:defRPr>
            </a:pPr>
            <a:r>
              <a:t>✗  Historical Trend Reliance</a:t>
            </a:r>
          </a:p>
          <a:p>
            <a:pPr algn="l">
              <a:spcBef>
                <a:spcPts val="800"/>
              </a:spcBef>
              <a:defRPr sz="1300" b="0">
                <a:solidFill>
                  <a:srgbClr val="374767"/>
                </a:solidFill>
              </a:defRPr>
            </a:pPr>
            <a:r>
              <a:t>Most price information is backward-looking with no predictive value</a:t>
            </a:r>
          </a:p>
        </p:txBody>
      </p:sp>
      <p:sp>
        <p:nvSpPr>
          <p:cNvPr id="8" name="Rectangle 7"/>
          <p:cNvSpPr/>
          <p:nvPr/>
        </p:nvSpPr>
        <p:spPr>
          <a:xfrm>
            <a:off x="4480559" y="155448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59" y="155448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1828800"/>
            <a:ext cx="2926080" cy="1645920"/>
          </a:xfrm>
          <a:prstGeom prst="rect">
            <a:avLst/>
          </a:prstGeom>
          <a:noFill/>
        </p:spPr>
        <p:txBody>
          <a:bodyPr wrap="square">
            <a:spAutoFit/>
          </a:bodyPr>
          <a:lstStyle/>
          <a:p>
            <a:pPr algn="l">
              <a:defRPr sz="1600" b="1">
                <a:solidFill>
                  <a:srgbClr val="DC2626"/>
                </a:solidFill>
              </a:defRPr>
            </a:pPr>
            <a:r>
              <a:t>✗  No Non-Linear Modeling</a:t>
            </a:r>
          </a:p>
          <a:p>
            <a:pPr algn="l">
              <a:spcBef>
                <a:spcPts val="800"/>
              </a:spcBef>
              <a:defRPr sz="1300" b="0">
                <a:solidFill>
                  <a:srgbClr val="374767"/>
                </a:solidFill>
              </a:defRPr>
            </a:pPr>
            <a:r>
              <a:t>Traditional stats can't capture complex price-driving interactions</a:t>
            </a:r>
          </a:p>
        </p:txBody>
      </p:sp>
      <p:sp>
        <p:nvSpPr>
          <p:cNvPr id="11" name="Rectangle 10"/>
          <p:cNvSpPr/>
          <p:nvPr/>
        </p:nvSpPr>
        <p:spPr>
          <a:xfrm>
            <a:off x="8229600" y="155448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155448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828800"/>
            <a:ext cx="2926080" cy="1645920"/>
          </a:xfrm>
          <a:prstGeom prst="rect">
            <a:avLst/>
          </a:prstGeom>
          <a:noFill/>
        </p:spPr>
        <p:txBody>
          <a:bodyPr wrap="square">
            <a:spAutoFit/>
          </a:bodyPr>
          <a:lstStyle/>
          <a:p>
            <a:pPr algn="l">
              <a:defRPr sz="1600" b="1">
                <a:solidFill>
                  <a:srgbClr val="DC2626"/>
                </a:solidFill>
              </a:defRPr>
            </a:pPr>
            <a:r>
              <a:t>✗  National-Level Only</a:t>
            </a:r>
          </a:p>
          <a:p>
            <a:pPr algn="l">
              <a:spcBef>
                <a:spcPts val="800"/>
              </a:spcBef>
              <a:defRPr sz="1300" b="0">
                <a:solidFill>
                  <a:srgbClr val="374767"/>
                </a:solidFill>
              </a:defRPr>
            </a:pPr>
            <a:r>
              <a:t>County-level variations are masked in aggregate forecasts</a:t>
            </a:r>
          </a:p>
        </p:txBody>
      </p:sp>
      <p:sp>
        <p:nvSpPr>
          <p:cNvPr id="14" name="Rectangle 13"/>
          <p:cNvSpPr/>
          <p:nvPr/>
        </p:nvSpPr>
        <p:spPr>
          <a:xfrm>
            <a:off x="731520" y="402336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2336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97680"/>
            <a:ext cx="2926080" cy="1645920"/>
          </a:xfrm>
          <a:prstGeom prst="rect">
            <a:avLst/>
          </a:prstGeom>
          <a:noFill/>
        </p:spPr>
        <p:txBody>
          <a:bodyPr wrap="square">
            <a:spAutoFit/>
          </a:bodyPr>
          <a:lstStyle/>
          <a:p>
            <a:pPr algn="l">
              <a:defRPr sz="1600" b="1">
                <a:solidFill>
                  <a:srgbClr val="DC2626"/>
                </a:solidFill>
              </a:defRPr>
            </a:pPr>
            <a:r>
              <a:t>✗  No Uncertainty Quantification</a:t>
            </a:r>
          </a:p>
          <a:p>
            <a:pPr algn="l">
              <a:spcBef>
                <a:spcPts val="800"/>
              </a:spcBef>
              <a:defRPr sz="1300" b="0">
                <a:solidFill>
                  <a:srgbClr val="374767"/>
                </a:solidFill>
              </a:defRPr>
            </a:pPr>
            <a:r>
              <a:t>Point forecasts without confidence intervals for risk-based decisions</a:t>
            </a:r>
          </a:p>
        </p:txBody>
      </p:sp>
      <p:sp>
        <p:nvSpPr>
          <p:cNvPr id="17" name="Rectangle 16"/>
          <p:cNvSpPr/>
          <p:nvPr/>
        </p:nvSpPr>
        <p:spPr>
          <a:xfrm>
            <a:off x="4480559" y="402336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59" y="402336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79" y="4297680"/>
            <a:ext cx="2926080" cy="1645920"/>
          </a:xfrm>
          <a:prstGeom prst="rect">
            <a:avLst/>
          </a:prstGeom>
          <a:noFill/>
        </p:spPr>
        <p:txBody>
          <a:bodyPr wrap="square">
            <a:spAutoFit/>
          </a:bodyPr>
          <a:lstStyle/>
          <a:p>
            <a:pPr algn="l">
              <a:defRPr sz="1600" b="1">
                <a:solidFill>
                  <a:srgbClr val="DC2626"/>
                </a:solidFill>
              </a:defRPr>
            </a:pPr>
            <a:r>
              <a:t>✗  Manual &amp; Inconsistent</a:t>
            </a:r>
          </a:p>
          <a:p>
            <a:pPr algn="l">
              <a:spcBef>
                <a:spcPts val="800"/>
              </a:spcBef>
              <a:defRPr sz="1300" b="0">
                <a:solidFill>
                  <a:srgbClr val="374767"/>
                </a:solidFill>
              </a:defRPr>
            </a:pPr>
            <a:r>
              <a:t>No automated pipeline — forecasts are ad-hoc and not scalable</a:t>
            </a:r>
          </a:p>
        </p:txBody>
      </p:sp>
      <p:sp>
        <p:nvSpPr>
          <p:cNvPr id="20" name="Rectangle 19"/>
          <p:cNvSpPr/>
          <p:nvPr/>
        </p:nvSpPr>
        <p:spPr>
          <a:xfrm>
            <a:off x="8229600" y="4023360"/>
            <a:ext cx="3474720" cy="2103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402336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4297680"/>
            <a:ext cx="2926080" cy="1645920"/>
          </a:xfrm>
          <a:prstGeom prst="rect">
            <a:avLst/>
          </a:prstGeom>
          <a:noFill/>
        </p:spPr>
        <p:txBody>
          <a:bodyPr wrap="square">
            <a:spAutoFit/>
          </a:bodyPr>
          <a:lstStyle/>
          <a:p>
            <a:pPr algn="l">
              <a:defRPr sz="1600" b="1">
                <a:solidFill>
                  <a:srgbClr val="DC2626"/>
                </a:solidFill>
              </a:defRPr>
            </a:pPr>
            <a:r>
              <a:t>✗  No Directional Guidance</a:t>
            </a:r>
          </a:p>
          <a:p>
            <a:pPr algn="l">
              <a:spcBef>
                <a:spcPts val="800"/>
              </a:spcBef>
              <a:defRPr sz="1300" b="0">
                <a:solidFill>
                  <a:srgbClr val="374767"/>
                </a:solidFill>
              </a:defRPr>
            </a:pPr>
            <a:r>
              <a:t>Farmers don't know if prices will rise or fall — only the expected level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3. PROPOSED SOLUTION</a:t>
            </a:r>
          </a:p>
        </p:txBody>
      </p:sp>
      <p:sp>
        <p:nvSpPr>
          <p:cNvPr id="5" name="TextBox 4"/>
          <p:cNvSpPr txBox="1"/>
          <p:nvPr/>
        </p:nvSpPr>
        <p:spPr>
          <a:xfrm>
            <a:off x="731520" y="1554480"/>
            <a:ext cx="5029200" cy="4846320"/>
          </a:xfrm>
          <a:prstGeom prst="rect">
            <a:avLst/>
          </a:prstGeom>
          <a:noFill/>
        </p:spPr>
        <p:txBody>
          <a:bodyPr wrap="square">
            <a:spAutoFit/>
          </a:bodyPr>
          <a:lstStyle/>
          <a:p>
            <a:pPr algn="l">
              <a:defRPr sz="2200" b="1">
                <a:solidFill>
                  <a:srgbClr val="1E3A5F"/>
                </a:solidFill>
              </a:defRPr>
            </a:pPr>
            <a:r>
              <a:t>System Architecture</a:t>
            </a:r>
          </a:p>
          <a:p>
            <a:pPr>
              <a:spcBef>
                <a:spcPts val="400"/>
              </a:spcBef>
              <a:defRPr sz="1500" b="0">
                <a:solidFill>
                  <a:srgbClr val="374767"/>
                </a:solidFill>
              </a:defRPr>
            </a:pPr>
            <a:r>
              <a:t>Data Integration Layer: KAMIS + AgriBORA + Weather + Economic indicators</a:t>
            </a:r>
          </a:p>
          <a:p>
            <a:pPr>
              <a:spcBef>
                <a:spcPts val="400"/>
              </a:spcBef>
              <a:defRPr sz="1500" b="0">
                <a:solidFill>
                  <a:srgbClr val="374767"/>
                </a:solidFill>
              </a:defRPr>
            </a:pPr>
            <a:r>
              <a:t>Feature Engineering: 30 features — price lags, rolling statistics, weather, economic, temporal, interaction terms</a:t>
            </a:r>
          </a:p>
          <a:p>
            <a:pPr>
              <a:spcBef>
                <a:spcPts val="400"/>
              </a:spcBef>
              <a:defRPr sz="1500" b="0">
                <a:solidFill>
                  <a:srgbClr val="374767"/>
                </a:solidFill>
              </a:defRPr>
            </a:pPr>
            <a:r>
              <a:t>Δ-Price Target: Predict week-over-week change instead of absolute price</a:t>
            </a:r>
          </a:p>
          <a:p>
            <a:pPr>
              <a:spcBef>
                <a:spcPts val="400"/>
              </a:spcBef>
              <a:defRPr sz="1500" b="0">
                <a:solidFill>
                  <a:srgbClr val="374767"/>
                </a:solidFill>
              </a:defRPr>
            </a:pPr>
            <a:r>
              <a:t>Pooled XGBoost Model: Single model trained on all counties with one-hot encoding</a:t>
            </a:r>
          </a:p>
          <a:p>
            <a:pPr>
              <a:spcBef>
                <a:spcPts val="400"/>
              </a:spcBef>
              <a:defRPr sz="1500" b="0">
                <a:solidFill>
                  <a:srgbClr val="374767"/>
                </a:solidFill>
              </a:defRPr>
            </a:pPr>
            <a:r>
              <a:t>Expanding Window CV: 5-fold temporal cross-validation</a:t>
            </a:r>
          </a:p>
          <a:p>
            <a:pPr>
              <a:spcBef>
                <a:spcPts val="400"/>
              </a:spcBef>
              <a:defRPr sz="1500" b="0">
                <a:solidFill>
                  <a:srgbClr val="374767"/>
                </a:solidFill>
              </a:defRPr>
            </a:pPr>
            <a:r>
              <a:t>Per-County Fine-Tuning: Warm-start adaptation for local dynamics</a:t>
            </a:r>
          </a:p>
          <a:p>
            <a:pPr>
              <a:spcBef>
                <a:spcPts val="400"/>
              </a:spcBef>
              <a:defRPr sz="1500" b="0">
                <a:solidFill>
                  <a:srgbClr val="374767"/>
                </a:solidFill>
              </a:defRPr>
            </a:pPr>
            <a:r>
              <a:t>Evaluation: MASE, Directional Accuracy, MAE, sMAPE</a:t>
            </a:r>
          </a:p>
          <a:p>
            <a:pPr>
              <a:spcBef>
                <a:spcPts val="400"/>
              </a:spcBef>
              <a:defRPr sz="1500" b="0">
                <a:solidFill>
                  <a:srgbClr val="374767"/>
                </a:solidFill>
              </a:defRPr>
            </a:pPr>
            <a:r>
              <a:t>Interactive Dashboard: 3-tab Streamlit app for stakeholders</a:t>
            </a:r>
          </a:p>
          <a:p>
            <a:pPr>
              <a:spcBef>
                <a:spcPts val="400"/>
              </a:spcBef>
              <a:defRPr sz="1500" b="0">
                <a:solidFill>
                  <a:srgbClr val="374767"/>
                </a:solidFill>
              </a:defRPr>
            </a:pPr>
            <a:r>
              <a:t>Cloud Deployment: Streamlit Cloud for web-based access</a:t>
            </a:r>
          </a:p>
        </p:txBody>
      </p:sp>
      <p:sp>
        <p:nvSpPr>
          <p:cNvPr id="6" name="Rectangle 5"/>
          <p:cNvSpPr/>
          <p:nvPr/>
        </p:nvSpPr>
        <p:spPr>
          <a:xfrm>
            <a:off x="6400800" y="1554480"/>
            <a:ext cx="5029200" cy="484632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0" y="1554480"/>
            <a:ext cx="502920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828800"/>
            <a:ext cx="4572000" cy="4114800"/>
          </a:xfrm>
          <a:prstGeom prst="rect">
            <a:avLst/>
          </a:prstGeom>
          <a:noFill/>
        </p:spPr>
        <p:txBody>
          <a:bodyPr wrap="square">
            <a:spAutoFit/>
          </a:bodyPr>
          <a:lstStyle/>
          <a:p>
            <a:pPr algn="l">
              <a:defRPr sz="2200" b="1">
                <a:solidFill>
                  <a:srgbClr val="16A34A"/>
                </a:solidFill>
              </a:defRPr>
            </a:pPr>
            <a:r>
              <a:t>Why XGBoost?</a:t>
            </a:r>
          </a:p>
          <a:p>
            <a:pPr>
              <a:spcBef>
                <a:spcPts val="400"/>
              </a:spcBef>
              <a:defRPr sz="1500" b="0">
                <a:solidFill>
                  <a:srgbClr val="374767"/>
                </a:solidFill>
              </a:defRPr>
            </a:pPr>
            <a:r>
              <a:t>Handles non-linear relationships naturally</a:t>
            </a:r>
          </a:p>
          <a:p>
            <a:pPr>
              <a:spcBef>
                <a:spcPts val="400"/>
              </a:spcBef>
              <a:defRPr sz="1500" b="0">
                <a:solidFill>
                  <a:srgbClr val="374767"/>
                </a:solidFill>
              </a:defRPr>
            </a:pPr>
            <a:r>
              <a:t>Built-in regularization prevents overfitting</a:t>
            </a:r>
          </a:p>
          <a:p>
            <a:pPr>
              <a:spcBef>
                <a:spcPts val="400"/>
              </a:spcBef>
              <a:defRPr sz="1500" b="0">
                <a:solidFill>
                  <a:srgbClr val="374767"/>
                </a:solidFill>
              </a:defRPr>
            </a:pPr>
            <a:r>
              <a:t>Handles missing data internally</a:t>
            </a:r>
          </a:p>
          <a:p>
            <a:pPr>
              <a:spcBef>
                <a:spcPts val="400"/>
              </a:spcBef>
              <a:defRPr sz="1500" b="0">
                <a:solidFill>
                  <a:srgbClr val="374767"/>
                </a:solidFill>
              </a:defRPr>
            </a:pPr>
            <a:r>
              <a:t>Feature importance for interpretability</a:t>
            </a:r>
          </a:p>
          <a:p>
            <a:pPr>
              <a:spcBef>
                <a:spcPts val="400"/>
              </a:spcBef>
              <a:defRPr sz="1500" b="0">
                <a:solidFill>
                  <a:srgbClr val="374767"/>
                </a:solidFill>
              </a:defRPr>
            </a:pPr>
            <a:r>
              <a:t>Fast training and inference</a:t>
            </a:r>
          </a:p>
          <a:p>
            <a:pPr algn="l">
              <a:spcBef>
                <a:spcPts val="600"/>
              </a:spcBef>
              <a:defRPr sz="800" b="0">
                <a:solidFill>
                  <a:srgbClr val="1A1A1A"/>
                </a:solidFill>
              </a:defRPr>
            </a:pPr>
          </a:p>
          <a:p>
            <a:pPr algn="l">
              <a:spcBef>
                <a:spcPts val="1200"/>
              </a:spcBef>
              <a:defRPr sz="1600" b="1">
                <a:solidFill>
                  <a:srgbClr val="16A34A"/>
                </a:solidFill>
              </a:defRPr>
            </a:pPr>
            <a:r>
              <a:t>Pooled Approach Advantage:</a:t>
            </a:r>
          </a:p>
          <a:p>
            <a:pPr>
              <a:spcBef>
                <a:spcPts val="400"/>
              </a:spcBef>
              <a:defRPr sz="1500" b="0">
                <a:solidFill>
                  <a:srgbClr val="374767"/>
                </a:solidFill>
              </a:defRPr>
            </a:pPr>
            <a:r>
              <a:t>Shares data across counties → more robust</a:t>
            </a:r>
          </a:p>
          <a:p>
            <a:pPr>
              <a:spcBef>
                <a:spcPts val="400"/>
              </a:spcBef>
              <a:defRPr sz="1500" b="0">
                <a:solidFill>
                  <a:srgbClr val="374767"/>
                </a:solidFill>
              </a:defRPr>
            </a:pPr>
            <a:r>
              <a:t>Counties with less data benefit from others</a:t>
            </a:r>
          </a:p>
          <a:p>
            <a:pPr>
              <a:spcBef>
                <a:spcPts val="400"/>
              </a:spcBef>
              <a:defRPr sz="1500" b="0">
                <a:solidFill>
                  <a:srgbClr val="374767"/>
                </a:solidFill>
              </a:defRPr>
            </a:pPr>
            <a:r>
              <a:t>County one-hot encoding preserves local patterns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4. RESEARCH OBJECTIVES</a:t>
            </a:r>
          </a:p>
        </p:txBody>
      </p:sp>
      <p:sp>
        <p:nvSpPr>
          <p:cNvPr id="5" name="TextBox 4"/>
          <p:cNvSpPr txBox="1"/>
          <p:nvPr/>
        </p:nvSpPr>
        <p:spPr>
          <a:xfrm>
            <a:off x="731520" y="1554480"/>
            <a:ext cx="10515600" cy="914400"/>
          </a:xfrm>
          <a:prstGeom prst="rect">
            <a:avLst/>
          </a:prstGeom>
          <a:noFill/>
        </p:spPr>
        <p:txBody>
          <a:bodyPr wrap="square">
            <a:spAutoFit/>
          </a:bodyPr>
          <a:lstStyle/>
          <a:p>
            <a:pPr algn="l">
              <a:defRPr sz="2000" b="1">
                <a:solidFill>
                  <a:srgbClr val="1E3A5F"/>
                </a:solidFill>
              </a:defRPr>
            </a:pPr>
            <a:r>
              <a:t>Main Objective</a:t>
            </a:r>
          </a:p>
          <a:p>
            <a:pPr algn="l">
              <a:spcBef>
                <a:spcPts val="600"/>
              </a:spcBef>
              <a:defRPr sz="1600" b="0">
                <a:solidFill>
                  <a:srgbClr val="374767"/>
                </a:solidFill>
              </a:defRPr>
            </a:pPr>
            <a:r>
              <a:t>To develop and evaluate a machine learning-based maize price forecasting system that provides accurate, county-level weekly price predictions with quantified uncertainty to support decision-making across Kenya's maize value chain.</a:t>
            </a:r>
          </a:p>
        </p:txBody>
      </p:sp>
      <p:sp>
        <p:nvSpPr>
          <p:cNvPr id="6" name="TextBox 5"/>
          <p:cNvSpPr txBox="1"/>
          <p:nvPr/>
        </p:nvSpPr>
        <p:spPr>
          <a:xfrm>
            <a:off x="731520" y="3017520"/>
            <a:ext cx="10515600" cy="548640"/>
          </a:xfrm>
          <a:prstGeom prst="rect">
            <a:avLst/>
          </a:prstGeom>
          <a:noFill/>
        </p:spPr>
        <p:txBody>
          <a:bodyPr wrap="square">
            <a:spAutoFit/>
          </a:bodyPr>
          <a:lstStyle/>
          <a:p>
            <a:pPr algn="l">
              <a:defRPr sz="2000" b="1">
                <a:solidFill>
                  <a:srgbClr val="1E3A5F"/>
                </a:solidFill>
              </a:defRPr>
            </a:pPr>
            <a:r>
              <a:t>Specific Objectives</a:t>
            </a:r>
          </a:p>
        </p:txBody>
      </p:sp>
      <p:sp>
        <p:nvSpPr>
          <p:cNvPr id="7" name="Rectangle 6"/>
          <p:cNvSpPr/>
          <p:nvPr/>
        </p:nvSpPr>
        <p:spPr>
          <a:xfrm>
            <a:off x="1097280" y="3657600"/>
            <a:ext cx="36576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657600"/>
            <a:ext cx="365760" cy="365760"/>
          </a:xfrm>
          <a:prstGeom prst="rect">
            <a:avLst/>
          </a:prstGeom>
          <a:noFill/>
        </p:spPr>
        <p:txBody>
          <a:bodyPr wrap="square">
            <a:spAutoFit/>
          </a:bodyPr>
          <a:lstStyle/>
          <a:p>
            <a:pPr algn="ctr">
              <a:spcBef>
                <a:spcPts val="200"/>
              </a:spcBef>
              <a:defRPr sz="1400" b="1">
                <a:solidFill>
                  <a:srgbClr val="FFFFFF"/>
                </a:solidFill>
              </a:defRPr>
            </a:pPr>
            <a:r>
              <a:t>1</a:t>
            </a:r>
          </a:p>
        </p:txBody>
      </p:sp>
      <p:sp>
        <p:nvSpPr>
          <p:cNvPr id="9" name="TextBox 8"/>
          <p:cNvSpPr txBox="1"/>
          <p:nvPr/>
        </p:nvSpPr>
        <p:spPr>
          <a:xfrm>
            <a:off x="1645920" y="3657600"/>
            <a:ext cx="9601200" cy="365760"/>
          </a:xfrm>
          <a:prstGeom prst="rect">
            <a:avLst/>
          </a:prstGeom>
          <a:noFill/>
        </p:spPr>
        <p:txBody>
          <a:bodyPr wrap="square">
            <a:spAutoFit/>
          </a:bodyPr>
          <a:lstStyle/>
          <a:p>
            <a:pPr algn="l">
              <a:defRPr sz="1500" b="0">
                <a:solidFill>
                  <a:srgbClr val="374767"/>
                </a:solidFill>
              </a:defRPr>
            </a:pPr>
            <a:r>
              <a:t>Analyze historical maize price data from KAMIS &amp; AgriBORA to identify patterns, trends &amp; seasonal variations across counties</a:t>
            </a:r>
          </a:p>
        </p:txBody>
      </p:sp>
      <p:sp>
        <p:nvSpPr>
          <p:cNvPr id="10" name="Rectangle 9"/>
          <p:cNvSpPr/>
          <p:nvPr/>
        </p:nvSpPr>
        <p:spPr>
          <a:xfrm>
            <a:off x="1097280" y="4069080"/>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69080"/>
            <a:ext cx="365760" cy="365760"/>
          </a:xfrm>
          <a:prstGeom prst="rect">
            <a:avLst/>
          </a:prstGeom>
          <a:noFill/>
        </p:spPr>
        <p:txBody>
          <a:bodyPr wrap="square">
            <a:spAutoFit/>
          </a:bodyPr>
          <a:lstStyle/>
          <a:p>
            <a:pPr algn="ctr">
              <a:spcBef>
                <a:spcPts val="200"/>
              </a:spcBef>
              <a:defRPr sz="1400" b="1">
                <a:solidFill>
                  <a:srgbClr val="FFFFFF"/>
                </a:solidFill>
              </a:defRPr>
            </a:pPr>
            <a:r>
              <a:t>2</a:t>
            </a:r>
          </a:p>
        </p:txBody>
      </p:sp>
      <p:sp>
        <p:nvSpPr>
          <p:cNvPr id="12" name="TextBox 11"/>
          <p:cNvSpPr txBox="1"/>
          <p:nvPr/>
        </p:nvSpPr>
        <p:spPr>
          <a:xfrm>
            <a:off x="1645920" y="4069080"/>
            <a:ext cx="9601200" cy="365760"/>
          </a:xfrm>
          <a:prstGeom prst="rect">
            <a:avLst/>
          </a:prstGeom>
          <a:noFill/>
        </p:spPr>
        <p:txBody>
          <a:bodyPr wrap="square">
            <a:spAutoFit/>
          </a:bodyPr>
          <a:lstStyle/>
          <a:p>
            <a:pPr algn="l">
              <a:defRPr sz="1500" b="0">
                <a:solidFill>
                  <a:srgbClr val="374767"/>
                </a:solidFill>
              </a:defRPr>
            </a:pPr>
            <a:r>
              <a:t>Design &amp; engineer a comprehensive feature set incorporating price lags, rolling statistics, weather, economic &amp; temporal features</a:t>
            </a:r>
          </a:p>
        </p:txBody>
      </p:sp>
      <p:sp>
        <p:nvSpPr>
          <p:cNvPr id="13" name="Rectangle 12"/>
          <p:cNvSpPr/>
          <p:nvPr/>
        </p:nvSpPr>
        <p:spPr>
          <a:xfrm>
            <a:off x="1097280" y="4480560"/>
            <a:ext cx="36576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480560"/>
            <a:ext cx="365760" cy="365760"/>
          </a:xfrm>
          <a:prstGeom prst="rect">
            <a:avLst/>
          </a:prstGeom>
          <a:noFill/>
        </p:spPr>
        <p:txBody>
          <a:bodyPr wrap="square">
            <a:spAutoFit/>
          </a:bodyPr>
          <a:lstStyle/>
          <a:p>
            <a:pPr algn="ctr">
              <a:spcBef>
                <a:spcPts val="200"/>
              </a:spcBef>
              <a:defRPr sz="1400" b="1">
                <a:solidFill>
                  <a:srgbClr val="FFFFFF"/>
                </a:solidFill>
              </a:defRPr>
            </a:pPr>
            <a:r>
              <a:t>3</a:t>
            </a:r>
          </a:p>
        </p:txBody>
      </p:sp>
      <p:sp>
        <p:nvSpPr>
          <p:cNvPr id="15" name="TextBox 14"/>
          <p:cNvSpPr txBox="1"/>
          <p:nvPr/>
        </p:nvSpPr>
        <p:spPr>
          <a:xfrm>
            <a:off x="1645920" y="4480560"/>
            <a:ext cx="9601200" cy="365760"/>
          </a:xfrm>
          <a:prstGeom prst="rect">
            <a:avLst/>
          </a:prstGeom>
          <a:noFill/>
        </p:spPr>
        <p:txBody>
          <a:bodyPr wrap="square">
            <a:spAutoFit/>
          </a:bodyPr>
          <a:lstStyle/>
          <a:p>
            <a:pPr algn="l">
              <a:defRPr sz="1500" b="0">
                <a:solidFill>
                  <a:srgbClr val="374767"/>
                </a:solidFill>
              </a:defRPr>
            </a:pPr>
            <a:r>
              <a:t>Develop a pooled XGBoost regression model trained on Δ-price with county one-hot encoding &amp; expanding window CV</a:t>
            </a:r>
          </a:p>
        </p:txBody>
      </p:sp>
      <p:sp>
        <p:nvSpPr>
          <p:cNvPr id="16" name="Rectangle 15"/>
          <p:cNvSpPr/>
          <p:nvPr/>
        </p:nvSpPr>
        <p:spPr>
          <a:xfrm>
            <a:off x="1097280" y="4892040"/>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892040"/>
            <a:ext cx="365760" cy="365760"/>
          </a:xfrm>
          <a:prstGeom prst="rect">
            <a:avLst/>
          </a:prstGeom>
          <a:noFill/>
        </p:spPr>
        <p:txBody>
          <a:bodyPr wrap="square">
            <a:spAutoFit/>
          </a:bodyPr>
          <a:lstStyle/>
          <a:p>
            <a:pPr algn="ctr">
              <a:spcBef>
                <a:spcPts val="200"/>
              </a:spcBef>
              <a:defRPr sz="1400" b="1">
                <a:solidFill>
                  <a:srgbClr val="FFFFFF"/>
                </a:solidFill>
              </a:defRPr>
            </a:pPr>
            <a:r>
              <a:t>4</a:t>
            </a:r>
          </a:p>
        </p:txBody>
      </p:sp>
      <p:sp>
        <p:nvSpPr>
          <p:cNvPr id="18" name="TextBox 17"/>
          <p:cNvSpPr txBox="1"/>
          <p:nvPr/>
        </p:nvSpPr>
        <p:spPr>
          <a:xfrm>
            <a:off x="1645920" y="4892040"/>
            <a:ext cx="9601200" cy="365760"/>
          </a:xfrm>
          <a:prstGeom prst="rect">
            <a:avLst/>
          </a:prstGeom>
          <a:noFill/>
        </p:spPr>
        <p:txBody>
          <a:bodyPr wrap="square">
            <a:spAutoFit/>
          </a:bodyPr>
          <a:lstStyle/>
          <a:p>
            <a:pPr algn="l">
              <a:defRPr sz="1500" b="0">
                <a:solidFill>
                  <a:srgbClr val="374767"/>
                </a:solidFill>
              </a:defRPr>
            </a:pPr>
            <a:r>
              <a:t>Implement an expanding window cross-validation strategy with 5 folds for robust temporal evaluation</a:t>
            </a:r>
          </a:p>
        </p:txBody>
      </p:sp>
      <p:sp>
        <p:nvSpPr>
          <p:cNvPr id="19" name="Rectangle 18"/>
          <p:cNvSpPr/>
          <p:nvPr/>
        </p:nvSpPr>
        <p:spPr>
          <a:xfrm>
            <a:off x="1097280" y="5303520"/>
            <a:ext cx="36576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303520"/>
            <a:ext cx="365760" cy="365760"/>
          </a:xfrm>
          <a:prstGeom prst="rect">
            <a:avLst/>
          </a:prstGeom>
          <a:noFill/>
        </p:spPr>
        <p:txBody>
          <a:bodyPr wrap="square">
            <a:spAutoFit/>
          </a:bodyPr>
          <a:lstStyle/>
          <a:p>
            <a:pPr algn="ctr">
              <a:spcBef>
                <a:spcPts val="200"/>
              </a:spcBef>
              <a:defRPr sz="1400" b="1">
                <a:solidFill>
                  <a:srgbClr val="FFFFFF"/>
                </a:solidFill>
              </a:defRPr>
            </a:pPr>
            <a:r>
              <a:t>5</a:t>
            </a:r>
          </a:p>
        </p:txBody>
      </p:sp>
      <p:sp>
        <p:nvSpPr>
          <p:cNvPr id="21" name="TextBox 20"/>
          <p:cNvSpPr txBox="1"/>
          <p:nvPr/>
        </p:nvSpPr>
        <p:spPr>
          <a:xfrm>
            <a:off x="1645920" y="5303520"/>
            <a:ext cx="9601200" cy="365760"/>
          </a:xfrm>
          <a:prstGeom prst="rect">
            <a:avLst/>
          </a:prstGeom>
          <a:noFill/>
        </p:spPr>
        <p:txBody>
          <a:bodyPr wrap="square">
            <a:spAutoFit/>
          </a:bodyPr>
          <a:lstStyle/>
          <a:p>
            <a:pPr algn="l">
              <a:defRPr sz="1500" b="0">
                <a:solidFill>
                  <a:srgbClr val="374767"/>
                </a:solidFill>
              </a:defRPr>
            </a:pPr>
            <a:r>
              <a:t>Evaluate model performance using MASE, Directional Accuracy, MAE and sMAPE metrics</a:t>
            </a:r>
          </a:p>
        </p:txBody>
      </p:sp>
      <p:sp>
        <p:nvSpPr>
          <p:cNvPr id="22" name="Rectangle 21"/>
          <p:cNvSpPr/>
          <p:nvPr/>
        </p:nvSpPr>
        <p:spPr>
          <a:xfrm>
            <a:off x="1097280" y="5715000"/>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15000"/>
            <a:ext cx="365760" cy="365760"/>
          </a:xfrm>
          <a:prstGeom prst="rect">
            <a:avLst/>
          </a:prstGeom>
          <a:noFill/>
        </p:spPr>
        <p:txBody>
          <a:bodyPr wrap="square">
            <a:spAutoFit/>
          </a:bodyPr>
          <a:lstStyle/>
          <a:p>
            <a:pPr algn="ctr">
              <a:spcBef>
                <a:spcPts val="200"/>
              </a:spcBef>
              <a:defRPr sz="1400" b="1">
                <a:solidFill>
                  <a:srgbClr val="FFFFFF"/>
                </a:solidFill>
              </a:defRPr>
            </a:pPr>
            <a:r>
              <a:t>6</a:t>
            </a:r>
          </a:p>
        </p:txBody>
      </p:sp>
      <p:sp>
        <p:nvSpPr>
          <p:cNvPr id="24" name="TextBox 23"/>
          <p:cNvSpPr txBox="1"/>
          <p:nvPr/>
        </p:nvSpPr>
        <p:spPr>
          <a:xfrm>
            <a:off x="1645920" y="5715000"/>
            <a:ext cx="9601200" cy="365760"/>
          </a:xfrm>
          <a:prstGeom prst="rect">
            <a:avLst/>
          </a:prstGeom>
          <a:noFill/>
        </p:spPr>
        <p:txBody>
          <a:bodyPr wrap="square">
            <a:spAutoFit/>
          </a:bodyPr>
          <a:lstStyle/>
          <a:p>
            <a:pPr algn="l">
              <a:defRPr sz="1500" b="0">
                <a:solidFill>
                  <a:srgbClr val="374767"/>
                </a:solidFill>
              </a:defRPr>
            </a:pPr>
            <a:r>
              <a:t>Build an interactive Streamlit dashboard with 3 user-friendly tabs for farmers, buyers &amp; market analysis</a:t>
            </a:r>
          </a:p>
        </p:txBody>
      </p:sp>
      <p:sp>
        <p:nvSpPr>
          <p:cNvPr id="25" name="Rectangle 24"/>
          <p:cNvSpPr/>
          <p:nvPr/>
        </p:nvSpPr>
        <p:spPr>
          <a:xfrm>
            <a:off x="1097280" y="6126480"/>
            <a:ext cx="36576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6126480"/>
            <a:ext cx="365760" cy="365760"/>
          </a:xfrm>
          <a:prstGeom prst="rect">
            <a:avLst/>
          </a:prstGeom>
          <a:noFill/>
        </p:spPr>
        <p:txBody>
          <a:bodyPr wrap="square">
            <a:spAutoFit/>
          </a:bodyPr>
          <a:lstStyle/>
          <a:p>
            <a:pPr algn="ctr">
              <a:spcBef>
                <a:spcPts val="200"/>
              </a:spcBef>
              <a:defRPr sz="1400" b="1">
                <a:solidFill>
                  <a:srgbClr val="FFFFFF"/>
                </a:solidFill>
              </a:defRPr>
            </a:pPr>
            <a:r>
              <a:t>7</a:t>
            </a:r>
          </a:p>
        </p:txBody>
      </p:sp>
      <p:sp>
        <p:nvSpPr>
          <p:cNvPr id="27" name="TextBox 26"/>
          <p:cNvSpPr txBox="1"/>
          <p:nvPr/>
        </p:nvSpPr>
        <p:spPr>
          <a:xfrm>
            <a:off x="1645920" y="6126480"/>
            <a:ext cx="9601200" cy="365760"/>
          </a:xfrm>
          <a:prstGeom prst="rect">
            <a:avLst/>
          </a:prstGeom>
          <a:noFill/>
        </p:spPr>
        <p:txBody>
          <a:bodyPr wrap="square">
            <a:spAutoFit/>
          </a:bodyPr>
          <a:lstStyle/>
          <a:p>
            <a:pPr algn="l">
              <a:defRPr sz="1500" b="0">
                <a:solidFill>
                  <a:srgbClr val="374767"/>
                </a:solidFill>
              </a:defRPr>
            </a:pPr>
            <a:r>
              <a:t>Deploy the system on Streamlit Cloud for web-based stakeholder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5. SOURCE OF DATA</a:t>
            </a:r>
          </a:p>
        </p:txBody>
      </p:sp>
      <p:sp>
        <p:nvSpPr>
          <p:cNvPr id="5" name="TextBox 4"/>
          <p:cNvSpPr txBox="1"/>
          <p:nvPr/>
        </p:nvSpPr>
        <p:spPr>
          <a:xfrm>
            <a:off x="731520" y="1554480"/>
            <a:ext cx="10515600" cy="4846320"/>
          </a:xfrm>
          <a:prstGeom prst="rect">
            <a:avLst/>
          </a:prstGeom>
          <a:noFill/>
        </p:spPr>
        <p:txBody>
          <a:bodyPr wrap="square">
            <a:spAutoFit/>
          </a:bodyPr>
          <a:lstStyle/>
          <a:p>
            <a:pPr algn="l">
              <a:defRPr sz="2000" b="1">
                <a:solidFill>
                  <a:srgbClr val="1E3A5F"/>
                </a:solidFill>
              </a:defRPr>
            </a:pPr>
            <a:r>
              <a:t>Five Data Sources Integrated for Holistic Prediction</a:t>
            </a:r>
          </a:p>
        </p:txBody>
      </p:sp>
      <p:sp>
        <p:nvSpPr>
          <p:cNvPr id="6" name="Rectangle 5"/>
          <p:cNvSpPr/>
          <p:nvPr/>
        </p:nvSpPr>
        <p:spPr>
          <a:xfrm>
            <a:off x="914400" y="2286000"/>
            <a:ext cx="10332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2011680" cy="411480"/>
          </a:xfrm>
          <a:prstGeom prst="rect">
            <a:avLst/>
          </a:prstGeom>
          <a:noFill/>
        </p:spPr>
        <p:txBody>
          <a:bodyPr wrap="square">
            <a:spAutoFit/>
          </a:bodyPr>
          <a:lstStyle/>
          <a:p>
            <a:pPr algn="ctr">
              <a:defRPr sz="1300" b="1">
                <a:solidFill>
                  <a:srgbClr val="FFFFFF"/>
                </a:solidFill>
              </a:defRPr>
            </a:pPr>
            <a:r>
              <a:t>Data Source</a:t>
            </a:r>
          </a:p>
        </p:txBody>
      </p:sp>
      <p:sp>
        <p:nvSpPr>
          <p:cNvPr id="8" name="TextBox 7"/>
          <p:cNvSpPr txBox="1"/>
          <p:nvPr/>
        </p:nvSpPr>
        <p:spPr>
          <a:xfrm>
            <a:off x="2926080" y="2331720"/>
            <a:ext cx="2194560" cy="411480"/>
          </a:xfrm>
          <a:prstGeom prst="rect">
            <a:avLst/>
          </a:prstGeom>
          <a:noFill/>
        </p:spPr>
        <p:txBody>
          <a:bodyPr wrap="square">
            <a:spAutoFit/>
          </a:bodyPr>
          <a:lstStyle/>
          <a:p>
            <a:pPr algn="ctr">
              <a:defRPr sz="1300" b="1">
                <a:solidFill>
                  <a:srgbClr val="FFFFFF"/>
                </a:solidFill>
              </a:defRPr>
            </a:pPr>
            <a:r>
              <a:t>Type of Data</a:t>
            </a:r>
          </a:p>
        </p:txBody>
      </p:sp>
      <p:sp>
        <p:nvSpPr>
          <p:cNvPr id="9" name="TextBox 8"/>
          <p:cNvSpPr txBox="1"/>
          <p:nvPr/>
        </p:nvSpPr>
        <p:spPr>
          <a:xfrm>
            <a:off x="5120640" y="2331720"/>
            <a:ext cx="2194560" cy="411480"/>
          </a:xfrm>
          <a:prstGeom prst="rect">
            <a:avLst/>
          </a:prstGeom>
          <a:noFill/>
        </p:spPr>
        <p:txBody>
          <a:bodyPr wrap="square">
            <a:spAutoFit/>
          </a:bodyPr>
          <a:lstStyle/>
          <a:p>
            <a:pPr algn="ctr">
              <a:defRPr sz="1300" b="1">
                <a:solidFill>
                  <a:srgbClr val="FFFFFF"/>
                </a:solidFill>
              </a:defRPr>
            </a:pPr>
            <a:r>
              <a:t>Frequency</a:t>
            </a:r>
          </a:p>
        </p:txBody>
      </p:sp>
      <p:sp>
        <p:nvSpPr>
          <p:cNvPr id="10" name="TextBox 9"/>
          <p:cNvSpPr txBox="1"/>
          <p:nvPr/>
        </p:nvSpPr>
        <p:spPr>
          <a:xfrm>
            <a:off x="7315200" y="2331720"/>
            <a:ext cx="1828800" cy="411480"/>
          </a:xfrm>
          <a:prstGeom prst="rect">
            <a:avLst/>
          </a:prstGeom>
          <a:noFill/>
        </p:spPr>
        <p:txBody>
          <a:bodyPr wrap="square">
            <a:spAutoFit/>
          </a:bodyPr>
          <a:lstStyle/>
          <a:p>
            <a:pPr algn="ctr">
              <a:defRPr sz="1300" b="1">
                <a:solidFill>
                  <a:srgbClr val="FFFFFF"/>
                </a:solidFill>
              </a:defRPr>
            </a:pPr>
            <a:r>
              <a:t>Period</a:t>
            </a:r>
          </a:p>
        </p:txBody>
      </p:sp>
      <p:sp>
        <p:nvSpPr>
          <p:cNvPr id="11" name="TextBox 10"/>
          <p:cNvSpPr txBox="1"/>
          <p:nvPr/>
        </p:nvSpPr>
        <p:spPr>
          <a:xfrm>
            <a:off x="9144000" y="2331720"/>
            <a:ext cx="1188720" cy="411480"/>
          </a:xfrm>
          <a:prstGeom prst="rect">
            <a:avLst/>
          </a:prstGeom>
          <a:noFill/>
        </p:spPr>
        <p:txBody>
          <a:bodyPr wrap="square">
            <a:spAutoFit/>
          </a:bodyPr>
          <a:lstStyle/>
          <a:p>
            <a:pPr algn="ctr">
              <a:defRPr sz="1300" b="1">
                <a:solidFill>
                  <a:srgbClr val="FFFFFF"/>
                </a:solidFill>
              </a:defRPr>
            </a:pPr>
            <a:r>
              <a:t>Records</a:t>
            </a:r>
          </a:p>
        </p:txBody>
      </p:sp>
      <p:sp>
        <p:nvSpPr>
          <p:cNvPr id="12" name="Rectangle 11"/>
          <p:cNvSpPr/>
          <p:nvPr/>
        </p:nvSpPr>
        <p:spPr>
          <a:xfrm>
            <a:off x="914400" y="2788920"/>
            <a:ext cx="10332720"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34639"/>
            <a:ext cx="2011680" cy="457200"/>
          </a:xfrm>
          <a:prstGeom prst="rect">
            <a:avLst/>
          </a:prstGeom>
          <a:noFill/>
        </p:spPr>
        <p:txBody>
          <a:bodyPr wrap="square">
            <a:spAutoFit/>
          </a:bodyPr>
          <a:lstStyle/>
          <a:p>
            <a:pPr algn="ctr">
              <a:defRPr sz="1200" b="0">
                <a:solidFill>
                  <a:srgbClr val="374767"/>
                </a:solidFill>
              </a:defRPr>
            </a:pPr>
            <a:r>
              <a:t>KAMIS</a:t>
            </a:r>
            <a:br/>
            <a:r>
              <a:t>(Ministry of Ag.)</a:t>
            </a:r>
          </a:p>
        </p:txBody>
      </p:sp>
      <p:sp>
        <p:nvSpPr>
          <p:cNvPr id="14" name="TextBox 13"/>
          <p:cNvSpPr txBox="1"/>
          <p:nvPr/>
        </p:nvSpPr>
        <p:spPr>
          <a:xfrm>
            <a:off x="2926080" y="2834639"/>
            <a:ext cx="2194560" cy="457200"/>
          </a:xfrm>
          <a:prstGeom prst="rect">
            <a:avLst/>
          </a:prstGeom>
          <a:noFill/>
        </p:spPr>
        <p:txBody>
          <a:bodyPr wrap="square">
            <a:spAutoFit/>
          </a:bodyPr>
          <a:lstStyle/>
          <a:p>
            <a:pPr algn="ctr">
              <a:defRPr sz="1200" b="0">
                <a:solidFill>
                  <a:srgbClr val="374767"/>
                </a:solidFill>
              </a:defRPr>
            </a:pPr>
            <a:r>
              <a:t>Retail &amp; wholesale</a:t>
            </a:r>
            <a:br/>
            <a:r>
              <a:t>maize prices</a:t>
            </a:r>
          </a:p>
        </p:txBody>
      </p:sp>
      <p:sp>
        <p:nvSpPr>
          <p:cNvPr id="15" name="TextBox 14"/>
          <p:cNvSpPr txBox="1"/>
          <p:nvPr/>
        </p:nvSpPr>
        <p:spPr>
          <a:xfrm>
            <a:off x="5120640" y="2834639"/>
            <a:ext cx="2194560" cy="457200"/>
          </a:xfrm>
          <a:prstGeom prst="rect">
            <a:avLst/>
          </a:prstGeom>
          <a:noFill/>
        </p:spPr>
        <p:txBody>
          <a:bodyPr wrap="square">
            <a:spAutoFit/>
          </a:bodyPr>
          <a:lstStyle/>
          <a:p>
            <a:pPr algn="ctr">
              <a:defRPr sz="1200" b="0">
                <a:solidFill>
                  <a:srgbClr val="374767"/>
                </a:solidFill>
              </a:defRPr>
            </a:pPr>
            <a:r>
              <a:t>Weekly</a:t>
            </a:r>
          </a:p>
        </p:txBody>
      </p:sp>
      <p:sp>
        <p:nvSpPr>
          <p:cNvPr id="16" name="TextBox 15"/>
          <p:cNvSpPr txBox="1"/>
          <p:nvPr/>
        </p:nvSpPr>
        <p:spPr>
          <a:xfrm>
            <a:off x="7315200" y="2834639"/>
            <a:ext cx="1828800" cy="457200"/>
          </a:xfrm>
          <a:prstGeom prst="rect">
            <a:avLst/>
          </a:prstGeom>
          <a:noFill/>
        </p:spPr>
        <p:txBody>
          <a:bodyPr wrap="square">
            <a:spAutoFit/>
          </a:bodyPr>
          <a:lstStyle/>
          <a:p>
            <a:pPr algn="ctr">
              <a:defRPr sz="1200" b="0">
                <a:solidFill>
                  <a:srgbClr val="374767"/>
                </a:solidFill>
              </a:defRPr>
            </a:pPr>
            <a:r>
              <a:t>2021-2025</a:t>
            </a:r>
          </a:p>
        </p:txBody>
      </p:sp>
      <p:sp>
        <p:nvSpPr>
          <p:cNvPr id="17" name="TextBox 16"/>
          <p:cNvSpPr txBox="1"/>
          <p:nvPr/>
        </p:nvSpPr>
        <p:spPr>
          <a:xfrm>
            <a:off x="9144000" y="2834639"/>
            <a:ext cx="1188720" cy="457200"/>
          </a:xfrm>
          <a:prstGeom prst="rect">
            <a:avLst/>
          </a:prstGeom>
          <a:noFill/>
        </p:spPr>
        <p:txBody>
          <a:bodyPr wrap="square">
            <a:spAutoFit/>
          </a:bodyPr>
          <a:lstStyle/>
          <a:p>
            <a:pPr algn="ctr">
              <a:defRPr sz="1200" b="0">
                <a:solidFill>
                  <a:srgbClr val="374767"/>
                </a:solidFill>
              </a:defRPr>
            </a:pPr>
            <a:r>
              <a:t>~15,000</a:t>
            </a:r>
          </a:p>
        </p:txBody>
      </p:sp>
      <p:sp>
        <p:nvSpPr>
          <p:cNvPr id="18" name="Rectangle 17"/>
          <p:cNvSpPr/>
          <p:nvPr/>
        </p:nvSpPr>
        <p:spPr>
          <a:xfrm>
            <a:off x="914400" y="3337560"/>
            <a:ext cx="10332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383279"/>
            <a:ext cx="2011680" cy="457200"/>
          </a:xfrm>
          <a:prstGeom prst="rect">
            <a:avLst/>
          </a:prstGeom>
          <a:noFill/>
        </p:spPr>
        <p:txBody>
          <a:bodyPr wrap="square">
            <a:spAutoFit/>
          </a:bodyPr>
          <a:lstStyle/>
          <a:p>
            <a:pPr algn="ctr">
              <a:defRPr sz="1200" b="0">
                <a:solidFill>
                  <a:srgbClr val="374767"/>
                </a:solidFill>
              </a:defRPr>
            </a:pPr>
            <a:r>
              <a:t>AgriBORA</a:t>
            </a:r>
          </a:p>
        </p:txBody>
      </p:sp>
      <p:sp>
        <p:nvSpPr>
          <p:cNvPr id="20" name="TextBox 19"/>
          <p:cNvSpPr txBox="1"/>
          <p:nvPr/>
        </p:nvSpPr>
        <p:spPr>
          <a:xfrm>
            <a:off x="2926080" y="3383279"/>
            <a:ext cx="2194560" cy="457200"/>
          </a:xfrm>
          <a:prstGeom prst="rect">
            <a:avLst/>
          </a:prstGeom>
          <a:noFill/>
        </p:spPr>
        <p:txBody>
          <a:bodyPr wrap="square">
            <a:spAutoFit/>
          </a:bodyPr>
          <a:lstStyle/>
          <a:p>
            <a:pPr algn="ctr">
              <a:defRPr sz="1200" b="0">
                <a:solidFill>
                  <a:srgbClr val="374767"/>
                </a:solidFill>
              </a:defRPr>
            </a:pPr>
            <a:r>
              <a:t>Transaction-based</a:t>
            </a:r>
            <a:br/>
            <a:r>
              <a:t>wholesale prices</a:t>
            </a:r>
          </a:p>
        </p:txBody>
      </p:sp>
      <p:sp>
        <p:nvSpPr>
          <p:cNvPr id="21" name="TextBox 20"/>
          <p:cNvSpPr txBox="1"/>
          <p:nvPr/>
        </p:nvSpPr>
        <p:spPr>
          <a:xfrm>
            <a:off x="5120640" y="3383279"/>
            <a:ext cx="2194560" cy="457200"/>
          </a:xfrm>
          <a:prstGeom prst="rect">
            <a:avLst/>
          </a:prstGeom>
          <a:noFill/>
        </p:spPr>
        <p:txBody>
          <a:bodyPr wrap="square">
            <a:spAutoFit/>
          </a:bodyPr>
          <a:lstStyle/>
          <a:p>
            <a:pPr algn="ctr">
              <a:defRPr sz="1200" b="0">
                <a:solidFill>
                  <a:srgbClr val="374767"/>
                </a:solidFill>
              </a:defRPr>
            </a:pPr>
            <a:r>
              <a:t>Per transaction</a:t>
            </a:r>
          </a:p>
        </p:txBody>
      </p:sp>
      <p:sp>
        <p:nvSpPr>
          <p:cNvPr id="22" name="TextBox 21"/>
          <p:cNvSpPr txBox="1"/>
          <p:nvPr/>
        </p:nvSpPr>
        <p:spPr>
          <a:xfrm>
            <a:off x="7315200" y="3383279"/>
            <a:ext cx="1828800" cy="457200"/>
          </a:xfrm>
          <a:prstGeom prst="rect">
            <a:avLst/>
          </a:prstGeom>
          <a:noFill/>
        </p:spPr>
        <p:txBody>
          <a:bodyPr wrap="square">
            <a:spAutoFit/>
          </a:bodyPr>
          <a:lstStyle/>
          <a:p>
            <a:pPr algn="ctr">
              <a:defRPr sz="1200" b="0">
                <a:solidFill>
                  <a:srgbClr val="374767"/>
                </a:solidFill>
              </a:defRPr>
            </a:pPr>
            <a:r>
              <a:t>2021-2025</a:t>
            </a:r>
          </a:p>
        </p:txBody>
      </p:sp>
      <p:sp>
        <p:nvSpPr>
          <p:cNvPr id="23" name="TextBox 22"/>
          <p:cNvSpPr txBox="1"/>
          <p:nvPr/>
        </p:nvSpPr>
        <p:spPr>
          <a:xfrm>
            <a:off x="9144000" y="3383279"/>
            <a:ext cx="1188720" cy="457200"/>
          </a:xfrm>
          <a:prstGeom prst="rect">
            <a:avLst/>
          </a:prstGeom>
          <a:noFill/>
        </p:spPr>
        <p:txBody>
          <a:bodyPr wrap="square">
            <a:spAutoFit/>
          </a:bodyPr>
          <a:lstStyle/>
          <a:p>
            <a:pPr algn="ctr">
              <a:defRPr sz="1200" b="0">
                <a:solidFill>
                  <a:srgbClr val="374767"/>
                </a:solidFill>
              </a:defRPr>
            </a:pPr>
            <a:r>
              <a:t>~13,000</a:t>
            </a:r>
          </a:p>
        </p:txBody>
      </p:sp>
      <p:sp>
        <p:nvSpPr>
          <p:cNvPr id="24" name="Rectangle 23"/>
          <p:cNvSpPr/>
          <p:nvPr/>
        </p:nvSpPr>
        <p:spPr>
          <a:xfrm>
            <a:off x="914400" y="3886200"/>
            <a:ext cx="10332720"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31920"/>
            <a:ext cx="2011680" cy="457200"/>
          </a:xfrm>
          <a:prstGeom prst="rect">
            <a:avLst/>
          </a:prstGeom>
          <a:noFill/>
        </p:spPr>
        <p:txBody>
          <a:bodyPr wrap="square">
            <a:spAutoFit/>
          </a:bodyPr>
          <a:lstStyle/>
          <a:p>
            <a:pPr algn="ctr">
              <a:defRPr sz="1200" b="0">
                <a:solidFill>
                  <a:srgbClr val="374767"/>
                </a:solidFill>
              </a:defRPr>
            </a:pPr>
            <a:r>
              <a:t>Open-Meteo API</a:t>
            </a:r>
          </a:p>
        </p:txBody>
      </p:sp>
      <p:sp>
        <p:nvSpPr>
          <p:cNvPr id="26" name="TextBox 25"/>
          <p:cNvSpPr txBox="1"/>
          <p:nvPr/>
        </p:nvSpPr>
        <p:spPr>
          <a:xfrm>
            <a:off x="2926080" y="3931920"/>
            <a:ext cx="2194560" cy="457200"/>
          </a:xfrm>
          <a:prstGeom prst="rect">
            <a:avLst/>
          </a:prstGeom>
          <a:noFill/>
        </p:spPr>
        <p:txBody>
          <a:bodyPr wrap="square">
            <a:spAutoFit/>
          </a:bodyPr>
          <a:lstStyle/>
          <a:p>
            <a:pPr algn="ctr">
              <a:defRPr sz="1200" b="0">
                <a:solidFill>
                  <a:srgbClr val="374767"/>
                </a:solidFill>
              </a:defRPr>
            </a:pPr>
            <a:r>
              <a:t>Weather data</a:t>
            </a:r>
            <a:br/>
            <a:r>
              <a:t>(temp, rainfall, wind)</a:t>
            </a:r>
          </a:p>
        </p:txBody>
      </p:sp>
      <p:sp>
        <p:nvSpPr>
          <p:cNvPr id="27" name="TextBox 26"/>
          <p:cNvSpPr txBox="1"/>
          <p:nvPr/>
        </p:nvSpPr>
        <p:spPr>
          <a:xfrm>
            <a:off x="5120640" y="3931920"/>
            <a:ext cx="2194560" cy="457200"/>
          </a:xfrm>
          <a:prstGeom prst="rect">
            <a:avLst/>
          </a:prstGeom>
          <a:noFill/>
        </p:spPr>
        <p:txBody>
          <a:bodyPr wrap="square">
            <a:spAutoFit/>
          </a:bodyPr>
          <a:lstStyle/>
          <a:p>
            <a:pPr algn="ctr">
              <a:defRPr sz="1200" b="0">
                <a:solidFill>
                  <a:srgbClr val="374767"/>
                </a:solidFill>
              </a:defRPr>
            </a:pPr>
            <a:r>
              <a:t>Daily</a:t>
            </a:r>
            <a:br/>
            <a:r>
              <a:t>(agg. to weekly)</a:t>
            </a:r>
          </a:p>
        </p:txBody>
      </p:sp>
      <p:sp>
        <p:nvSpPr>
          <p:cNvPr id="28" name="TextBox 27"/>
          <p:cNvSpPr txBox="1"/>
          <p:nvPr/>
        </p:nvSpPr>
        <p:spPr>
          <a:xfrm>
            <a:off x="7315200" y="3931920"/>
            <a:ext cx="1828800" cy="457200"/>
          </a:xfrm>
          <a:prstGeom prst="rect">
            <a:avLst/>
          </a:prstGeom>
          <a:noFill/>
        </p:spPr>
        <p:txBody>
          <a:bodyPr wrap="square">
            <a:spAutoFit/>
          </a:bodyPr>
          <a:lstStyle/>
          <a:p>
            <a:pPr algn="ctr">
              <a:defRPr sz="1200" b="0">
                <a:solidFill>
                  <a:srgbClr val="374767"/>
                </a:solidFill>
              </a:defRPr>
            </a:pPr>
            <a:r>
              <a:t>2021-2025</a:t>
            </a:r>
          </a:p>
        </p:txBody>
      </p:sp>
      <p:sp>
        <p:nvSpPr>
          <p:cNvPr id="29" name="TextBox 28"/>
          <p:cNvSpPr txBox="1"/>
          <p:nvPr/>
        </p:nvSpPr>
        <p:spPr>
          <a:xfrm>
            <a:off x="9144000" y="3931920"/>
            <a:ext cx="1188720" cy="457200"/>
          </a:xfrm>
          <a:prstGeom prst="rect">
            <a:avLst/>
          </a:prstGeom>
          <a:noFill/>
        </p:spPr>
        <p:txBody>
          <a:bodyPr wrap="square">
            <a:spAutoFit/>
          </a:bodyPr>
          <a:lstStyle/>
          <a:p>
            <a:pPr algn="ctr">
              <a:defRPr sz="1200" b="0">
                <a:solidFill>
                  <a:srgbClr val="374767"/>
                </a:solidFill>
              </a:defRPr>
            </a:pPr>
            <a:r>
              <a:t>~800,000</a:t>
            </a:r>
          </a:p>
        </p:txBody>
      </p:sp>
      <p:sp>
        <p:nvSpPr>
          <p:cNvPr id="30" name="Rectangle 29"/>
          <p:cNvSpPr/>
          <p:nvPr/>
        </p:nvSpPr>
        <p:spPr>
          <a:xfrm>
            <a:off x="914400" y="4434840"/>
            <a:ext cx="10332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480559"/>
            <a:ext cx="2011680" cy="457200"/>
          </a:xfrm>
          <a:prstGeom prst="rect">
            <a:avLst/>
          </a:prstGeom>
          <a:noFill/>
        </p:spPr>
        <p:txBody>
          <a:bodyPr wrap="square">
            <a:spAutoFit/>
          </a:bodyPr>
          <a:lstStyle/>
          <a:p>
            <a:pPr algn="ctr">
              <a:defRPr sz="1200" b="0">
                <a:solidFill>
                  <a:srgbClr val="374767"/>
                </a:solidFill>
              </a:defRPr>
            </a:pPr>
            <a:r>
              <a:t>KNBS</a:t>
            </a:r>
          </a:p>
        </p:txBody>
      </p:sp>
      <p:sp>
        <p:nvSpPr>
          <p:cNvPr id="32" name="TextBox 31"/>
          <p:cNvSpPr txBox="1"/>
          <p:nvPr/>
        </p:nvSpPr>
        <p:spPr>
          <a:xfrm>
            <a:off x="2926080" y="4480559"/>
            <a:ext cx="2194560" cy="457200"/>
          </a:xfrm>
          <a:prstGeom prst="rect">
            <a:avLst/>
          </a:prstGeom>
          <a:noFill/>
        </p:spPr>
        <p:txBody>
          <a:bodyPr wrap="square">
            <a:spAutoFit/>
          </a:bodyPr>
          <a:lstStyle/>
          <a:p>
            <a:pPr algn="ctr">
              <a:defRPr sz="1200" b="0">
                <a:solidFill>
                  <a:srgbClr val="374767"/>
                </a:solidFill>
              </a:defRPr>
            </a:pPr>
            <a:r>
              <a:t>Consumer Price</a:t>
            </a:r>
            <a:br/>
            <a:r>
              <a:t>Index (CPI)</a:t>
            </a:r>
          </a:p>
        </p:txBody>
      </p:sp>
      <p:sp>
        <p:nvSpPr>
          <p:cNvPr id="33" name="TextBox 32"/>
          <p:cNvSpPr txBox="1"/>
          <p:nvPr/>
        </p:nvSpPr>
        <p:spPr>
          <a:xfrm>
            <a:off x="5120640" y="4480559"/>
            <a:ext cx="2194560" cy="457200"/>
          </a:xfrm>
          <a:prstGeom prst="rect">
            <a:avLst/>
          </a:prstGeom>
          <a:noFill/>
        </p:spPr>
        <p:txBody>
          <a:bodyPr wrap="square">
            <a:spAutoFit/>
          </a:bodyPr>
          <a:lstStyle/>
          <a:p>
            <a:pPr algn="ctr">
              <a:defRPr sz="1200" b="0">
                <a:solidFill>
                  <a:srgbClr val="374767"/>
                </a:solidFill>
              </a:defRPr>
            </a:pPr>
            <a:r>
              <a:t>Monthly</a:t>
            </a:r>
          </a:p>
        </p:txBody>
      </p:sp>
      <p:sp>
        <p:nvSpPr>
          <p:cNvPr id="34" name="TextBox 33"/>
          <p:cNvSpPr txBox="1"/>
          <p:nvPr/>
        </p:nvSpPr>
        <p:spPr>
          <a:xfrm>
            <a:off x="7315200" y="4480559"/>
            <a:ext cx="1828800" cy="457200"/>
          </a:xfrm>
          <a:prstGeom prst="rect">
            <a:avLst/>
          </a:prstGeom>
          <a:noFill/>
        </p:spPr>
        <p:txBody>
          <a:bodyPr wrap="square">
            <a:spAutoFit/>
          </a:bodyPr>
          <a:lstStyle/>
          <a:p>
            <a:pPr algn="ctr">
              <a:defRPr sz="1200" b="0">
                <a:solidFill>
                  <a:srgbClr val="374767"/>
                </a:solidFill>
              </a:defRPr>
            </a:pPr>
            <a:r>
              <a:t>2021-2025</a:t>
            </a:r>
          </a:p>
        </p:txBody>
      </p:sp>
      <p:sp>
        <p:nvSpPr>
          <p:cNvPr id="35" name="TextBox 34"/>
          <p:cNvSpPr txBox="1"/>
          <p:nvPr/>
        </p:nvSpPr>
        <p:spPr>
          <a:xfrm>
            <a:off x="9144000" y="4480559"/>
            <a:ext cx="1188720" cy="457200"/>
          </a:xfrm>
          <a:prstGeom prst="rect">
            <a:avLst/>
          </a:prstGeom>
          <a:noFill/>
        </p:spPr>
        <p:txBody>
          <a:bodyPr wrap="square">
            <a:spAutoFit/>
          </a:bodyPr>
          <a:lstStyle/>
          <a:p>
            <a:pPr algn="ctr">
              <a:defRPr sz="1200" b="0">
                <a:solidFill>
                  <a:srgbClr val="374767"/>
                </a:solidFill>
              </a:defRPr>
            </a:pPr>
            <a:r>
              <a:t>~57</a:t>
            </a:r>
          </a:p>
        </p:txBody>
      </p:sp>
      <p:sp>
        <p:nvSpPr>
          <p:cNvPr id="36" name="Rectangle 35"/>
          <p:cNvSpPr/>
          <p:nvPr/>
        </p:nvSpPr>
        <p:spPr>
          <a:xfrm>
            <a:off x="914400" y="4983479"/>
            <a:ext cx="10332720"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029199"/>
            <a:ext cx="2011680" cy="457200"/>
          </a:xfrm>
          <a:prstGeom prst="rect">
            <a:avLst/>
          </a:prstGeom>
          <a:noFill/>
        </p:spPr>
        <p:txBody>
          <a:bodyPr wrap="square">
            <a:spAutoFit/>
          </a:bodyPr>
          <a:lstStyle/>
          <a:p>
            <a:pPr algn="ctr">
              <a:defRPr sz="1200" b="0">
                <a:solidFill>
                  <a:srgbClr val="374767"/>
                </a:solidFill>
              </a:defRPr>
            </a:pPr>
            <a:r>
              <a:t>Central Bank</a:t>
            </a:r>
            <a:br/>
            <a:r>
              <a:t>of Kenya</a:t>
            </a:r>
          </a:p>
        </p:txBody>
      </p:sp>
      <p:sp>
        <p:nvSpPr>
          <p:cNvPr id="38" name="TextBox 37"/>
          <p:cNvSpPr txBox="1"/>
          <p:nvPr/>
        </p:nvSpPr>
        <p:spPr>
          <a:xfrm>
            <a:off x="2926080" y="5029199"/>
            <a:ext cx="2194560" cy="457200"/>
          </a:xfrm>
          <a:prstGeom prst="rect">
            <a:avLst/>
          </a:prstGeom>
          <a:noFill/>
        </p:spPr>
        <p:txBody>
          <a:bodyPr wrap="square">
            <a:spAutoFit/>
          </a:bodyPr>
          <a:lstStyle/>
          <a:p>
            <a:pPr algn="ctr">
              <a:defRPr sz="1200" b="0">
                <a:solidFill>
                  <a:srgbClr val="374767"/>
                </a:solidFill>
              </a:defRPr>
            </a:pPr>
            <a:r>
              <a:t>USD/KES</a:t>
            </a:r>
            <a:br/>
            <a:r>
              <a:t>exchange rate</a:t>
            </a:r>
          </a:p>
        </p:txBody>
      </p:sp>
      <p:sp>
        <p:nvSpPr>
          <p:cNvPr id="39" name="TextBox 38"/>
          <p:cNvSpPr txBox="1"/>
          <p:nvPr/>
        </p:nvSpPr>
        <p:spPr>
          <a:xfrm>
            <a:off x="5120640" y="5029199"/>
            <a:ext cx="2194560" cy="457200"/>
          </a:xfrm>
          <a:prstGeom prst="rect">
            <a:avLst/>
          </a:prstGeom>
          <a:noFill/>
        </p:spPr>
        <p:txBody>
          <a:bodyPr wrap="square">
            <a:spAutoFit/>
          </a:bodyPr>
          <a:lstStyle/>
          <a:p>
            <a:pPr algn="ctr">
              <a:defRPr sz="1200" b="0">
                <a:solidFill>
                  <a:srgbClr val="374767"/>
                </a:solidFill>
              </a:defRPr>
            </a:pPr>
            <a:r>
              <a:t>Weekly</a:t>
            </a:r>
          </a:p>
        </p:txBody>
      </p:sp>
      <p:sp>
        <p:nvSpPr>
          <p:cNvPr id="40" name="TextBox 39"/>
          <p:cNvSpPr txBox="1"/>
          <p:nvPr/>
        </p:nvSpPr>
        <p:spPr>
          <a:xfrm>
            <a:off x="7315200" y="5029199"/>
            <a:ext cx="1828800" cy="457200"/>
          </a:xfrm>
          <a:prstGeom prst="rect">
            <a:avLst/>
          </a:prstGeom>
          <a:noFill/>
        </p:spPr>
        <p:txBody>
          <a:bodyPr wrap="square">
            <a:spAutoFit/>
          </a:bodyPr>
          <a:lstStyle/>
          <a:p>
            <a:pPr algn="ctr">
              <a:defRPr sz="1200" b="0">
                <a:solidFill>
                  <a:srgbClr val="374767"/>
                </a:solidFill>
              </a:defRPr>
            </a:pPr>
            <a:r>
              <a:t>2021-2025</a:t>
            </a:r>
          </a:p>
        </p:txBody>
      </p:sp>
      <p:sp>
        <p:nvSpPr>
          <p:cNvPr id="41" name="TextBox 40"/>
          <p:cNvSpPr txBox="1"/>
          <p:nvPr/>
        </p:nvSpPr>
        <p:spPr>
          <a:xfrm>
            <a:off x="9144000" y="5029199"/>
            <a:ext cx="1188720" cy="457200"/>
          </a:xfrm>
          <a:prstGeom prst="rect">
            <a:avLst/>
          </a:prstGeom>
          <a:noFill/>
        </p:spPr>
        <p:txBody>
          <a:bodyPr wrap="square">
            <a:spAutoFit/>
          </a:bodyPr>
          <a:lstStyle/>
          <a:p>
            <a:pPr algn="ctr">
              <a:defRPr sz="1200" b="0">
                <a:solidFill>
                  <a:srgbClr val="374767"/>
                </a:solidFill>
              </a:defRPr>
            </a:pPr>
            <a:r>
              <a:t>~250</a:t>
            </a:r>
          </a:p>
        </p:txBody>
      </p:sp>
      <p:sp>
        <p:nvSpPr>
          <p:cNvPr id="42" name="TextBox 41"/>
          <p:cNvSpPr txBox="1"/>
          <p:nvPr/>
        </p:nvSpPr>
        <p:spPr>
          <a:xfrm>
            <a:off x="914400" y="5806439"/>
            <a:ext cx="10332720" cy="914400"/>
          </a:xfrm>
          <a:prstGeom prst="rect">
            <a:avLst/>
          </a:prstGeom>
          <a:noFill/>
        </p:spPr>
        <p:txBody>
          <a:bodyPr wrap="square">
            <a:spAutoFit/>
          </a:bodyPr>
          <a:lstStyle/>
          <a:p>
            <a:pPr algn="l">
              <a:defRPr sz="1600" b="1">
                <a:solidFill>
                  <a:srgbClr val="1E3A5F"/>
                </a:solidFill>
              </a:defRPr>
            </a:pPr>
            <a:r>
              <a:t>Target Counties: Nairobi, Mombasa, Kiambu, Kirinyaga, Uasin-Gishu</a:t>
            </a:r>
          </a:p>
          <a:p>
            <a:pPr algn="l">
              <a:spcBef>
                <a:spcPts val="400"/>
              </a:spcBef>
              <a:defRPr sz="1400" b="0">
                <a:solidFill>
                  <a:srgbClr val="6B7280"/>
                </a:solidFill>
              </a:defRPr>
            </a:pPr>
            <a:r>
              <a:t>These 5 counties represent Kenya's key maize market segments: urban consumer markets (Nairobi, Mombasa), surplus-producing highlands (Uasin-Gishu), and mixed farming zones (Kiambu, Kirinyaga).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6. METHODOLOGY OVERVIEW</a:t>
            </a:r>
          </a:p>
        </p:txBody>
      </p:sp>
      <p:sp>
        <p:nvSpPr>
          <p:cNvPr id="5" name="Rectangle 4"/>
          <p:cNvSpPr/>
          <p:nvPr/>
        </p:nvSpPr>
        <p:spPr>
          <a:xfrm>
            <a:off x="731520" y="155448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26517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37360" y="1737360"/>
            <a:ext cx="548640"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1737360"/>
            <a:ext cx="548640" cy="548640"/>
          </a:xfrm>
          <a:prstGeom prst="rect">
            <a:avLst/>
          </a:prstGeom>
          <a:noFill/>
        </p:spPr>
        <p:txBody>
          <a:bodyPr wrap="square">
            <a:spAutoFit/>
          </a:bodyPr>
          <a:lstStyle/>
          <a:p>
            <a:pPr algn="ctr">
              <a:defRPr sz="2000" b="1">
                <a:solidFill>
                  <a:srgbClr val="FFFFFF"/>
                </a:solidFill>
              </a:defRPr>
            </a:pPr>
            <a:r>
              <a:t>1</a:t>
            </a:r>
          </a:p>
        </p:txBody>
      </p:sp>
      <p:sp>
        <p:nvSpPr>
          <p:cNvPr id="9" name="TextBox 8"/>
          <p:cNvSpPr txBox="1"/>
          <p:nvPr/>
        </p:nvSpPr>
        <p:spPr>
          <a:xfrm>
            <a:off x="914400" y="2468880"/>
            <a:ext cx="2286000" cy="365760"/>
          </a:xfrm>
          <a:prstGeom prst="rect">
            <a:avLst/>
          </a:prstGeom>
          <a:noFill/>
        </p:spPr>
        <p:txBody>
          <a:bodyPr wrap="square">
            <a:spAutoFit/>
          </a:bodyPr>
          <a:lstStyle/>
          <a:p>
            <a:pPr algn="ctr">
              <a:defRPr sz="1500" b="1">
                <a:solidFill>
                  <a:srgbClr val="F59E0B"/>
                </a:solidFill>
              </a:defRPr>
            </a:pPr>
            <a:r>
              <a:t>Data Collection</a:t>
            </a:r>
          </a:p>
        </p:txBody>
      </p:sp>
      <p:sp>
        <p:nvSpPr>
          <p:cNvPr id="10" name="TextBox 9"/>
          <p:cNvSpPr txBox="1"/>
          <p:nvPr/>
        </p:nvSpPr>
        <p:spPr>
          <a:xfrm>
            <a:off x="914400" y="2926080"/>
            <a:ext cx="2286000" cy="731520"/>
          </a:xfrm>
          <a:prstGeom prst="rect">
            <a:avLst/>
          </a:prstGeom>
          <a:noFill/>
        </p:spPr>
        <p:txBody>
          <a:bodyPr wrap="square">
            <a:spAutoFit/>
          </a:bodyPr>
          <a:lstStyle/>
          <a:p>
            <a:pPr algn="ctr">
              <a:defRPr sz="1100" b="0">
                <a:solidFill>
                  <a:srgbClr val="374767"/>
                </a:solidFill>
              </a:defRPr>
            </a:pPr>
            <a:r>
              <a:t>5 sources: KAMIS, AgriBORA, Open-Meteo, KNBS, CBK</a:t>
            </a:r>
          </a:p>
        </p:txBody>
      </p:sp>
      <p:sp>
        <p:nvSpPr>
          <p:cNvPr id="11" name="Rectangle 10"/>
          <p:cNvSpPr/>
          <p:nvPr/>
        </p:nvSpPr>
        <p:spPr>
          <a:xfrm>
            <a:off x="3611880" y="155448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11880" y="155448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17720" y="1737360"/>
            <a:ext cx="54864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737360"/>
            <a:ext cx="548640" cy="548640"/>
          </a:xfrm>
          <a:prstGeom prst="rect">
            <a:avLst/>
          </a:prstGeom>
          <a:noFill/>
        </p:spPr>
        <p:txBody>
          <a:bodyPr wrap="square">
            <a:spAutoFit/>
          </a:bodyPr>
          <a:lstStyle/>
          <a:p>
            <a:pPr algn="ctr">
              <a:defRPr sz="2000" b="1">
                <a:solidFill>
                  <a:srgbClr val="FFFFFF"/>
                </a:solidFill>
              </a:defRPr>
            </a:pPr>
            <a:r>
              <a:t>2</a:t>
            </a:r>
          </a:p>
        </p:txBody>
      </p:sp>
      <p:sp>
        <p:nvSpPr>
          <p:cNvPr id="15" name="TextBox 14"/>
          <p:cNvSpPr txBox="1"/>
          <p:nvPr/>
        </p:nvSpPr>
        <p:spPr>
          <a:xfrm>
            <a:off x="3794760" y="2468880"/>
            <a:ext cx="2286000" cy="365760"/>
          </a:xfrm>
          <a:prstGeom prst="rect">
            <a:avLst/>
          </a:prstGeom>
          <a:noFill/>
        </p:spPr>
        <p:txBody>
          <a:bodyPr wrap="square">
            <a:spAutoFit/>
          </a:bodyPr>
          <a:lstStyle/>
          <a:p>
            <a:pPr algn="ctr">
              <a:defRPr sz="1500" b="1">
                <a:solidFill>
                  <a:srgbClr val="16A34A"/>
                </a:solidFill>
              </a:defRPr>
            </a:pPr>
            <a:r>
              <a:t>Feature Engineering</a:t>
            </a:r>
          </a:p>
        </p:txBody>
      </p:sp>
      <p:sp>
        <p:nvSpPr>
          <p:cNvPr id="16" name="TextBox 15"/>
          <p:cNvSpPr txBox="1"/>
          <p:nvPr/>
        </p:nvSpPr>
        <p:spPr>
          <a:xfrm>
            <a:off x="3794760" y="2926080"/>
            <a:ext cx="2286000" cy="731520"/>
          </a:xfrm>
          <a:prstGeom prst="rect">
            <a:avLst/>
          </a:prstGeom>
          <a:noFill/>
        </p:spPr>
        <p:txBody>
          <a:bodyPr wrap="square">
            <a:spAutoFit/>
          </a:bodyPr>
          <a:lstStyle/>
          <a:p>
            <a:pPr algn="ctr">
              <a:defRPr sz="1100" b="0">
                <a:solidFill>
                  <a:srgbClr val="374767"/>
                </a:solidFill>
              </a:defRPr>
            </a:pPr>
            <a:r>
              <a:t>30 features: lags, rolling windows, weather, CPI, exchange rate, temporal, interactions</a:t>
            </a:r>
          </a:p>
        </p:txBody>
      </p:sp>
      <p:sp>
        <p:nvSpPr>
          <p:cNvPr id="17" name="Rectangle 16"/>
          <p:cNvSpPr/>
          <p:nvPr/>
        </p:nvSpPr>
        <p:spPr>
          <a:xfrm>
            <a:off x="6492240" y="155448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1554480"/>
            <a:ext cx="265176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1737360"/>
            <a:ext cx="548640" cy="5486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1737360"/>
            <a:ext cx="548640" cy="548640"/>
          </a:xfrm>
          <a:prstGeom prst="rect">
            <a:avLst/>
          </a:prstGeom>
          <a:noFill/>
        </p:spPr>
        <p:txBody>
          <a:bodyPr wrap="square">
            <a:spAutoFit/>
          </a:bodyPr>
          <a:lstStyle/>
          <a:p>
            <a:pPr algn="ctr">
              <a:defRPr sz="2000" b="1">
                <a:solidFill>
                  <a:srgbClr val="FFFFFF"/>
                </a:solidFill>
              </a:defRPr>
            </a:pPr>
            <a:r>
              <a:t>3</a:t>
            </a:r>
          </a:p>
        </p:txBody>
      </p:sp>
      <p:sp>
        <p:nvSpPr>
          <p:cNvPr id="21" name="TextBox 20"/>
          <p:cNvSpPr txBox="1"/>
          <p:nvPr/>
        </p:nvSpPr>
        <p:spPr>
          <a:xfrm>
            <a:off x="6675120" y="2468880"/>
            <a:ext cx="2286000" cy="365760"/>
          </a:xfrm>
          <a:prstGeom prst="rect">
            <a:avLst/>
          </a:prstGeom>
          <a:noFill/>
        </p:spPr>
        <p:txBody>
          <a:bodyPr wrap="square">
            <a:spAutoFit/>
          </a:bodyPr>
          <a:lstStyle/>
          <a:p>
            <a:pPr algn="ctr">
              <a:defRPr sz="1500" b="1">
                <a:solidFill>
                  <a:srgbClr val="3B82F6"/>
                </a:solidFill>
              </a:defRPr>
            </a:pPr>
            <a:r>
              <a:t>Δ-Price Target</a:t>
            </a:r>
          </a:p>
        </p:txBody>
      </p:sp>
      <p:sp>
        <p:nvSpPr>
          <p:cNvPr id="22" name="TextBox 21"/>
          <p:cNvSpPr txBox="1"/>
          <p:nvPr/>
        </p:nvSpPr>
        <p:spPr>
          <a:xfrm>
            <a:off x="6675120" y="2926080"/>
            <a:ext cx="2286000" cy="731520"/>
          </a:xfrm>
          <a:prstGeom prst="rect">
            <a:avLst/>
          </a:prstGeom>
          <a:noFill/>
        </p:spPr>
        <p:txBody>
          <a:bodyPr wrap="square">
            <a:spAutoFit/>
          </a:bodyPr>
          <a:lstStyle/>
          <a:p>
            <a:pPr algn="ctr">
              <a:defRPr sz="1100" b="0">
                <a:solidFill>
                  <a:srgbClr val="374767"/>
                </a:solidFill>
              </a:defRPr>
            </a:pPr>
            <a:r>
              <a:t>Predict week-over-week change: ΔPₜ = Pₜ - Pₜ₋₁ (stationary target, MASE-interpretable)</a:t>
            </a:r>
          </a:p>
        </p:txBody>
      </p:sp>
      <p:sp>
        <p:nvSpPr>
          <p:cNvPr id="23" name="Rectangle 22"/>
          <p:cNvSpPr/>
          <p:nvPr/>
        </p:nvSpPr>
        <p:spPr>
          <a:xfrm>
            <a:off x="9372600" y="155448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72600" y="1554480"/>
            <a:ext cx="265176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378440" y="1737360"/>
            <a:ext cx="548640" cy="5486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8440" y="1737360"/>
            <a:ext cx="548640" cy="548640"/>
          </a:xfrm>
          <a:prstGeom prst="rect">
            <a:avLst/>
          </a:prstGeom>
          <a:noFill/>
        </p:spPr>
        <p:txBody>
          <a:bodyPr wrap="square">
            <a:spAutoFit/>
          </a:bodyPr>
          <a:lstStyle/>
          <a:p>
            <a:pPr algn="ctr">
              <a:defRPr sz="2000" b="1">
                <a:solidFill>
                  <a:srgbClr val="FFFFFF"/>
                </a:solidFill>
              </a:defRPr>
            </a:pPr>
            <a:r>
              <a:t>4</a:t>
            </a:r>
          </a:p>
        </p:txBody>
      </p:sp>
      <p:sp>
        <p:nvSpPr>
          <p:cNvPr id="27" name="TextBox 26"/>
          <p:cNvSpPr txBox="1"/>
          <p:nvPr/>
        </p:nvSpPr>
        <p:spPr>
          <a:xfrm>
            <a:off x="9555480" y="2468880"/>
            <a:ext cx="2286000" cy="365760"/>
          </a:xfrm>
          <a:prstGeom prst="rect">
            <a:avLst/>
          </a:prstGeom>
          <a:noFill/>
        </p:spPr>
        <p:txBody>
          <a:bodyPr wrap="square">
            <a:spAutoFit/>
          </a:bodyPr>
          <a:lstStyle/>
          <a:p>
            <a:pPr algn="ctr">
              <a:defRPr sz="1500" b="1">
                <a:solidFill>
                  <a:srgbClr val="EA580C"/>
                </a:solidFill>
              </a:defRPr>
            </a:pPr>
            <a:r>
              <a:t>Pooled XGBoost</a:t>
            </a:r>
          </a:p>
        </p:txBody>
      </p:sp>
      <p:sp>
        <p:nvSpPr>
          <p:cNvPr id="28" name="TextBox 27"/>
          <p:cNvSpPr txBox="1"/>
          <p:nvPr/>
        </p:nvSpPr>
        <p:spPr>
          <a:xfrm>
            <a:off x="9555480" y="2926080"/>
            <a:ext cx="2286000" cy="731520"/>
          </a:xfrm>
          <a:prstGeom prst="rect">
            <a:avLst/>
          </a:prstGeom>
          <a:noFill/>
        </p:spPr>
        <p:txBody>
          <a:bodyPr wrap="square">
            <a:spAutoFit/>
          </a:bodyPr>
          <a:lstStyle/>
          <a:p>
            <a:pPr algn="ctr">
              <a:defRPr sz="1100" b="0">
                <a:solidFill>
                  <a:srgbClr val="374767"/>
                </a:solidFill>
              </a:defRPr>
            </a:pPr>
            <a:r>
              <a:t>Single model trained on all counties with 5 one-hot county dummies</a:t>
            </a:r>
          </a:p>
        </p:txBody>
      </p:sp>
      <p:sp>
        <p:nvSpPr>
          <p:cNvPr id="29" name="Rectangle 28"/>
          <p:cNvSpPr/>
          <p:nvPr/>
        </p:nvSpPr>
        <p:spPr>
          <a:xfrm>
            <a:off x="731520" y="411480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4114800"/>
            <a:ext cx="265176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37360" y="4297680"/>
            <a:ext cx="548640" cy="5486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37360" y="4297680"/>
            <a:ext cx="548640" cy="548640"/>
          </a:xfrm>
          <a:prstGeom prst="rect">
            <a:avLst/>
          </a:prstGeom>
          <a:noFill/>
        </p:spPr>
        <p:txBody>
          <a:bodyPr wrap="square">
            <a:spAutoFit/>
          </a:bodyPr>
          <a:lstStyle/>
          <a:p>
            <a:pPr algn="ctr">
              <a:defRPr sz="2000" b="1">
                <a:solidFill>
                  <a:srgbClr val="FFFFFF"/>
                </a:solidFill>
              </a:defRPr>
            </a:pPr>
            <a:r>
              <a:t>5</a:t>
            </a:r>
          </a:p>
        </p:txBody>
      </p:sp>
      <p:sp>
        <p:nvSpPr>
          <p:cNvPr id="33" name="TextBox 32"/>
          <p:cNvSpPr txBox="1"/>
          <p:nvPr/>
        </p:nvSpPr>
        <p:spPr>
          <a:xfrm>
            <a:off x="914400" y="5029200"/>
            <a:ext cx="2286000" cy="365760"/>
          </a:xfrm>
          <a:prstGeom prst="rect">
            <a:avLst/>
          </a:prstGeom>
          <a:noFill/>
        </p:spPr>
        <p:txBody>
          <a:bodyPr wrap="square">
            <a:spAutoFit/>
          </a:bodyPr>
          <a:lstStyle/>
          <a:p>
            <a:pPr algn="ctr">
              <a:defRPr sz="1500" b="1">
                <a:solidFill>
                  <a:srgbClr val="8B5CF6"/>
                </a:solidFill>
              </a:defRPr>
            </a:pPr>
            <a:r>
              <a:t>Expanding Window CV</a:t>
            </a:r>
          </a:p>
        </p:txBody>
      </p:sp>
      <p:sp>
        <p:nvSpPr>
          <p:cNvPr id="34" name="TextBox 33"/>
          <p:cNvSpPr txBox="1"/>
          <p:nvPr/>
        </p:nvSpPr>
        <p:spPr>
          <a:xfrm>
            <a:off x="914400" y="5486400"/>
            <a:ext cx="2286000" cy="731520"/>
          </a:xfrm>
          <a:prstGeom prst="rect">
            <a:avLst/>
          </a:prstGeom>
          <a:noFill/>
        </p:spPr>
        <p:txBody>
          <a:bodyPr wrap="square">
            <a:spAutoFit/>
          </a:bodyPr>
          <a:lstStyle/>
          <a:p>
            <a:pPr algn="ctr">
              <a:defRPr sz="1100" b="0">
                <a:solidFill>
                  <a:srgbClr val="374767"/>
                </a:solidFill>
              </a:defRPr>
            </a:pPr>
            <a:r>
              <a:t>5 temporal folds — train on past, test on future (no data leakage)</a:t>
            </a:r>
          </a:p>
        </p:txBody>
      </p:sp>
      <p:sp>
        <p:nvSpPr>
          <p:cNvPr id="35" name="Rectangle 34"/>
          <p:cNvSpPr/>
          <p:nvPr/>
        </p:nvSpPr>
        <p:spPr>
          <a:xfrm>
            <a:off x="3611880" y="411480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4114800"/>
            <a:ext cx="2651760" cy="54864"/>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17720" y="4297680"/>
            <a:ext cx="548640" cy="54864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17720" y="4297680"/>
            <a:ext cx="548640" cy="548640"/>
          </a:xfrm>
          <a:prstGeom prst="rect">
            <a:avLst/>
          </a:prstGeom>
          <a:noFill/>
        </p:spPr>
        <p:txBody>
          <a:bodyPr wrap="square">
            <a:spAutoFit/>
          </a:bodyPr>
          <a:lstStyle/>
          <a:p>
            <a:pPr algn="ctr">
              <a:defRPr sz="2000" b="1">
                <a:solidFill>
                  <a:srgbClr val="FFFFFF"/>
                </a:solidFill>
              </a:defRPr>
            </a:pPr>
            <a:r>
              <a:t>6</a:t>
            </a:r>
          </a:p>
        </p:txBody>
      </p:sp>
      <p:sp>
        <p:nvSpPr>
          <p:cNvPr id="39" name="TextBox 38"/>
          <p:cNvSpPr txBox="1"/>
          <p:nvPr/>
        </p:nvSpPr>
        <p:spPr>
          <a:xfrm>
            <a:off x="3794760" y="5029200"/>
            <a:ext cx="2286000" cy="365760"/>
          </a:xfrm>
          <a:prstGeom prst="rect">
            <a:avLst/>
          </a:prstGeom>
          <a:noFill/>
        </p:spPr>
        <p:txBody>
          <a:bodyPr wrap="square">
            <a:spAutoFit/>
          </a:bodyPr>
          <a:lstStyle/>
          <a:p>
            <a:pPr algn="ctr">
              <a:defRPr sz="1500" b="1">
                <a:solidFill>
                  <a:srgbClr val="EC4899"/>
                </a:solidFill>
              </a:defRPr>
            </a:pPr>
            <a:r>
              <a:t>Per-County Fine-Tune</a:t>
            </a:r>
          </a:p>
        </p:txBody>
      </p:sp>
      <p:sp>
        <p:nvSpPr>
          <p:cNvPr id="40" name="TextBox 39"/>
          <p:cNvSpPr txBox="1"/>
          <p:nvPr/>
        </p:nvSpPr>
        <p:spPr>
          <a:xfrm>
            <a:off x="3794760" y="5486400"/>
            <a:ext cx="2286000" cy="731520"/>
          </a:xfrm>
          <a:prstGeom prst="rect">
            <a:avLst/>
          </a:prstGeom>
          <a:noFill/>
        </p:spPr>
        <p:txBody>
          <a:bodyPr wrap="square">
            <a:spAutoFit/>
          </a:bodyPr>
          <a:lstStyle/>
          <a:p>
            <a:pPr algn="ctr">
              <a:defRPr sz="1100" b="0">
                <a:solidFill>
                  <a:srgbClr val="374767"/>
                </a:solidFill>
              </a:defRPr>
            </a:pPr>
            <a:r>
              <a:t>Optional warm-start fine-tuning from pooled weights (optional)</a:t>
            </a:r>
          </a:p>
        </p:txBody>
      </p:sp>
      <p:sp>
        <p:nvSpPr>
          <p:cNvPr id="41" name="Rectangle 40"/>
          <p:cNvSpPr/>
          <p:nvPr/>
        </p:nvSpPr>
        <p:spPr>
          <a:xfrm>
            <a:off x="6492240" y="4114800"/>
            <a:ext cx="265176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92240" y="411480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98079" y="4297680"/>
            <a:ext cx="54864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79" y="4297680"/>
            <a:ext cx="548640" cy="548640"/>
          </a:xfrm>
          <a:prstGeom prst="rect">
            <a:avLst/>
          </a:prstGeom>
          <a:noFill/>
        </p:spPr>
        <p:txBody>
          <a:bodyPr wrap="square">
            <a:spAutoFit/>
          </a:bodyPr>
          <a:lstStyle/>
          <a:p>
            <a:pPr algn="ctr">
              <a:defRPr sz="2000" b="1">
                <a:solidFill>
                  <a:srgbClr val="FFFFFF"/>
                </a:solidFill>
              </a:defRPr>
            </a:pPr>
            <a:r>
              <a:t>7</a:t>
            </a:r>
          </a:p>
        </p:txBody>
      </p:sp>
      <p:sp>
        <p:nvSpPr>
          <p:cNvPr id="45" name="TextBox 44"/>
          <p:cNvSpPr txBox="1"/>
          <p:nvPr/>
        </p:nvSpPr>
        <p:spPr>
          <a:xfrm>
            <a:off x="6675120" y="5029200"/>
            <a:ext cx="2286000" cy="365760"/>
          </a:xfrm>
          <a:prstGeom prst="rect">
            <a:avLst/>
          </a:prstGeom>
          <a:noFill/>
        </p:spPr>
        <p:txBody>
          <a:bodyPr wrap="square">
            <a:spAutoFit/>
          </a:bodyPr>
          <a:lstStyle/>
          <a:p>
            <a:pPr algn="ctr">
              <a:defRPr sz="1500" b="1">
                <a:solidFill>
                  <a:srgbClr val="16A34A"/>
                </a:solidFill>
              </a:defRPr>
            </a:pPr>
            <a:r>
              <a:t>Dashboard &amp; Deploy</a:t>
            </a:r>
          </a:p>
        </p:txBody>
      </p:sp>
      <p:sp>
        <p:nvSpPr>
          <p:cNvPr id="46" name="TextBox 45"/>
          <p:cNvSpPr txBox="1"/>
          <p:nvPr/>
        </p:nvSpPr>
        <p:spPr>
          <a:xfrm>
            <a:off x="6675120" y="5486400"/>
            <a:ext cx="2286000" cy="731520"/>
          </a:xfrm>
          <a:prstGeom prst="rect">
            <a:avLst/>
          </a:prstGeom>
          <a:noFill/>
        </p:spPr>
        <p:txBody>
          <a:bodyPr wrap="square">
            <a:spAutoFit/>
          </a:bodyPr>
          <a:lstStyle/>
          <a:p>
            <a:pPr algn="ctr">
              <a:defRPr sz="1100" b="0">
                <a:solidFill>
                  <a:srgbClr val="374767"/>
                </a:solidFill>
              </a:defRPr>
            </a:pPr>
            <a:r>
              <a:t>Streamlit app → Streamlit Cloud for stakeholder access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FEATURE ENGINEERING — 30 Predictive Features</a:t>
            </a:r>
          </a:p>
        </p:txBody>
      </p:sp>
      <p:sp>
        <p:nvSpPr>
          <p:cNvPr id="5" name="Rectangle 4"/>
          <p:cNvSpPr/>
          <p:nvPr/>
        </p:nvSpPr>
        <p:spPr>
          <a:xfrm>
            <a:off x="731520" y="155448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2926080" cy="365760"/>
          </a:xfrm>
          <a:prstGeom prst="rect">
            <a:avLst/>
          </a:prstGeom>
          <a:noFill/>
        </p:spPr>
        <p:txBody>
          <a:bodyPr wrap="square">
            <a:spAutoFit/>
          </a:bodyPr>
          <a:lstStyle/>
          <a:p>
            <a:pPr algn="l">
              <a:defRPr sz="1500" b="1">
                <a:solidFill>
                  <a:srgbClr val="EA580C"/>
                </a:solidFill>
              </a:defRPr>
            </a:pPr>
            <a:r>
              <a:t>📊 Price History Features (7)</a:t>
            </a:r>
          </a:p>
        </p:txBody>
      </p:sp>
      <p:sp>
        <p:nvSpPr>
          <p:cNvPr id="8" name="TextBox 7"/>
          <p:cNvSpPr txBox="1"/>
          <p:nvPr/>
        </p:nvSpPr>
        <p:spPr>
          <a:xfrm>
            <a:off x="1005840" y="2194560"/>
            <a:ext cx="2926080" cy="1371600"/>
          </a:xfrm>
          <a:prstGeom prst="rect">
            <a:avLst/>
          </a:prstGeom>
          <a:noFill/>
        </p:spPr>
        <p:txBody>
          <a:bodyPr wrap="square">
            <a:spAutoFit/>
          </a:bodyPr>
          <a:lstStyle/>
          <a:p>
            <a:pPr algn="l">
              <a:defRPr sz="1200" b="0">
                <a:solidFill>
                  <a:srgbClr val="374767"/>
                </a:solidFill>
              </a:defRPr>
            </a:pPr>
            <a:r>
              <a:t>Lag-1, Lag-2, Lag-3, Lag-4 prices</a:t>
            </a:r>
            <a:br/>
            <a:r>
              <a:t>Rolling mean (4wk), Rolling std (4wk)</a:t>
            </a:r>
            <a:br/>
            <a:r>
              <a:t>Price change rate (ΔP/P)</a:t>
            </a:r>
          </a:p>
        </p:txBody>
      </p:sp>
      <p:sp>
        <p:nvSpPr>
          <p:cNvPr id="9" name="Rectangle 8"/>
          <p:cNvSpPr/>
          <p:nvPr/>
        </p:nvSpPr>
        <p:spPr>
          <a:xfrm>
            <a:off x="4480559" y="155448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59" y="1554480"/>
            <a:ext cx="34747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1737360"/>
            <a:ext cx="2926080" cy="365760"/>
          </a:xfrm>
          <a:prstGeom prst="rect">
            <a:avLst/>
          </a:prstGeom>
          <a:noFill/>
        </p:spPr>
        <p:txBody>
          <a:bodyPr wrap="square">
            <a:spAutoFit/>
          </a:bodyPr>
          <a:lstStyle/>
          <a:p>
            <a:pPr algn="l">
              <a:defRPr sz="1500" b="1">
                <a:solidFill>
                  <a:srgbClr val="3B82F6"/>
                </a:solidFill>
              </a:defRPr>
            </a:pPr>
            <a:r>
              <a:t>🌦 Weather Features (6)</a:t>
            </a:r>
          </a:p>
        </p:txBody>
      </p:sp>
      <p:sp>
        <p:nvSpPr>
          <p:cNvPr id="12" name="TextBox 11"/>
          <p:cNvSpPr txBox="1"/>
          <p:nvPr/>
        </p:nvSpPr>
        <p:spPr>
          <a:xfrm>
            <a:off x="4754879" y="2194560"/>
            <a:ext cx="2926080" cy="1371600"/>
          </a:xfrm>
          <a:prstGeom prst="rect">
            <a:avLst/>
          </a:prstGeom>
          <a:noFill/>
        </p:spPr>
        <p:txBody>
          <a:bodyPr wrap="square">
            <a:spAutoFit/>
          </a:bodyPr>
          <a:lstStyle/>
          <a:p>
            <a:pPr algn="l">
              <a:defRPr sz="1200" b="0">
                <a:solidFill>
                  <a:srgbClr val="374767"/>
                </a:solidFill>
              </a:defRPr>
            </a:pPr>
            <a:r>
              <a:t>Weekly mean temperature</a:t>
            </a:r>
            <a:br/>
            <a:r>
              <a:t>Weekly max &amp; min temperature</a:t>
            </a:r>
            <a:br/>
            <a:r>
              <a:t>Total weekly rainfall</a:t>
            </a:r>
            <a:br/>
            <a:r>
              <a:t>Max wind speed</a:t>
            </a:r>
            <a:br/>
            <a:r>
              <a:t>Rainfall × lag-1 price (interaction)</a:t>
            </a:r>
          </a:p>
        </p:txBody>
      </p:sp>
      <p:sp>
        <p:nvSpPr>
          <p:cNvPr id="13" name="Rectangle 12"/>
          <p:cNvSpPr/>
          <p:nvPr/>
        </p:nvSpPr>
        <p:spPr>
          <a:xfrm>
            <a:off x="8229600" y="155448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554480"/>
            <a:ext cx="347472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737360"/>
            <a:ext cx="2926080" cy="365760"/>
          </a:xfrm>
          <a:prstGeom prst="rect">
            <a:avLst/>
          </a:prstGeom>
          <a:noFill/>
        </p:spPr>
        <p:txBody>
          <a:bodyPr wrap="square">
            <a:spAutoFit/>
          </a:bodyPr>
          <a:lstStyle/>
          <a:p>
            <a:pPr algn="l">
              <a:defRPr sz="1500" b="1">
                <a:solidFill>
                  <a:srgbClr val="16A34A"/>
                </a:solidFill>
              </a:defRPr>
            </a:pPr>
            <a:r>
              <a:t>💰 Economic Indicators (3)</a:t>
            </a:r>
          </a:p>
        </p:txBody>
      </p:sp>
      <p:sp>
        <p:nvSpPr>
          <p:cNvPr id="16" name="TextBox 15"/>
          <p:cNvSpPr txBox="1"/>
          <p:nvPr/>
        </p:nvSpPr>
        <p:spPr>
          <a:xfrm>
            <a:off x="8503920" y="2194560"/>
            <a:ext cx="2926080" cy="1371600"/>
          </a:xfrm>
          <a:prstGeom prst="rect">
            <a:avLst/>
          </a:prstGeom>
          <a:noFill/>
        </p:spPr>
        <p:txBody>
          <a:bodyPr wrap="square">
            <a:spAutoFit/>
          </a:bodyPr>
          <a:lstStyle/>
          <a:p>
            <a:pPr algn="l">
              <a:defRPr sz="1200" b="0">
                <a:solidFill>
                  <a:srgbClr val="374767"/>
                </a:solidFill>
              </a:defRPr>
            </a:pPr>
            <a:r>
              <a:t>CPI (Consumer Price Index)</a:t>
            </a:r>
            <a:br/>
            <a:r>
              <a:t>USD/KES exchange rate</a:t>
            </a:r>
            <a:br/>
            <a:r>
              <a:t>Inflation rate (derived from CPI)</a:t>
            </a:r>
          </a:p>
        </p:txBody>
      </p:sp>
      <p:sp>
        <p:nvSpPr>
          <p:cNvPr id="17" name="Rectangle 16"/>
          <p:cNvSpPr/>
          <p:nvPr/>
        </p:nvSpPr>
        <p:spPr>
          <a:xfrm>
            <a:off x="731520" y="411480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114800"/>
            <a:ext cx="347472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297680"/>
            <a:ext cx="2926080" cy="365760"/>
          </a:xfrm>
          <a:prstGeom prst="rect">
            <a:avLst/>
          </a:prstGeom>
          <a:noFill/>
        </p:spPr>
        <p:txBody>
          <a:bodyPr wrap="square">
            <a:spAutoFit/>
          </a:bodyPr>
          <a:lstStyle/>
          <a:p>
            <a:pPr algn="l">
              <a:defRPr sz="1500" b="1">
                <a:solidFill>
                  <a:srgbClr val="8B5CF6"/>
                </a:solidFill>
              </a:defRPr>
            </a:pPr>
            <a:r>
              <a:t>📅 Temporal Features (5)</a:t>
            </a:r>
          </a:p>
        </p:txBody>
      </p:sp>
      <p:sp>
        <p:nvSpPr>
          <p:cNvPr id="20" name="TextBox 19"/>
          <p:cNvSpPr txBox="1"/>
          <p:nvPr/>
        </p:nvSpPr>
        <p:spPr>
          <a:xfrm>
            <a:off x="1005840" y="4754880"/>
            <a:ext cx="2926080" cy="1371600"/>
          </a:xfrm>
          <a:prstGeom prst="rect">
            <a:avLst/>
          </a:prstGeom>
          <a:noFill/>
        </p:spPr>
        <p:txBody>
          <a:bodyPr wrap="square">
            <a:spAutoFit/>
          </a:bodyPr>
          <a:lstStyle/>
          <a:p>
            <a:pPr algn="l">
              <a:defRPr sz="1200" b="0">
                <a:solidFill>
                  <a:srgbClr val="374767"/>
                </a:solidFill>
              </a:defRPr>
            </a:pPr>
            <a:r>
              <a:t>Week of year (sin + cos encoding)</a:t>
            </a:r>
            <a:br/>
            <a:r>
              <a:t>Month (one-hot encoded)</a:t>
            </a:r>
            <a:br/>
            <a:r>
              <a:t>Year</a:t>
            </a:r>
          </a:p>
        </p:txBody>
      </p:sp>
      <p:sp>
        <p:nvSpPr>
          <p:cNvPr id="21" name="Rectangle 20"/>
          <p:cNvSpPr/>
          <p:nvPr/>
        </p:nvSpPr>
        <p:spPr>
          <a:xfrm>
            <a:off x="4480559" y="411480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59" y="4114800"/>
            <a:ext cx="34747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79" y="4297680"/>
            <a:ext cx="2926080" cy="365760"/>
          </a:xfrm>
          <a:prstGeom prst="rect">
            <a:avLst/>
          </a:prstGeom>
          <a:noFill/>
        </p:spPr>
        <p:txBody>
          <a:bodyPr wrap="square">
            <a:spAutoFit/>
          </a:bodyPr>
          <a:lstStyle/>
          <a:p>
            <a:pPr algn="l">
              <a:defRPr sz="1500" b="1">
                <a:solidFill>
                  <a:srgbClr val="F59E0B"/>
                </a:solidFill>
              </a:defRPr>
            </a:pPr>
            <a:r>
              <a:t>🔗 County Features (5)</a:t>
            </a:r>
          </a:p>
        </p:txBody>
      </p:sp>
      <p:sp>
        <p:nvSpPr>
          <p:cNvPr id="24" name="TextBox 23"/>
          <p:cNvSpPr txBox="1"/>
          <p:nvPr/>
        </p:nvSpPr>
        <p:spPr>
          <a:xfrm>
            <a:off x="4754879" y="4754880"/>
            <a:ext cx="2926080" cy="1371600"/>
          </a:xfrm>
          <a:prstGeom prst="rect">
            <a:avLst/>
          </a:prstGeom>
          <a:noFill/>
        </p:spPr>
        <p:txBody>
          <a:bodyPr wrap="square">
            <a:spAutoFit/>
          </a:bodyPr>
          <a:lstStyle/>
          <a:p>
            <a:pPr algn="l">
              <a:defRPr sz="1200" b="0">
                <a:solidFill>
                  <a:srgbClr val="374767"/>
                </a:solidFill>
              </a:defRPr>
            </a:pPr>
            <a:r>
              <a:t>5 one-hot encoded county dummies</a:t>
            </a:r>
            <a:br/>
            <a:r>
              <a:t>(Nairobi, Mombasa, Kiambu, Kirinyaga, Uasin-Gishu)</a:t>
            </a:r>
          </a:p>
        </p:txBody>
      </p:sp>
      <p:sp>
        <p:nvSpPr>
          <p:cNvPr id="25" name="Rectangle 24"/>
          <p:cNvSpPr/>
          <p:nvPr/>
        </p:nvSpPr>
        <p:spPr>
          <a:xfrm>
            <a:off x="8229600" y="4114800"/>
            <a:ext cx="3474720" cy="21945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4114800"/>
            <a:ext cx="3474720" cy="54864"/>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4297680"/>
            <a:ext cx="2926080" cy="365760"/>
          </a:xfrm>
          <a:prstGeom prst="rect">
            <a:avLst/>
          </a:prstGeom>
          <a:noFill/>
        </p:spPr>
        <p:txBody>
          <a:bodyPr wrap="square">
            <a:spAutoFit/>
          </a:bodyPr>
          <a:lstStyle/>
          <a:p>
            <a:pPr algn="l">
              <a:defRPr sz="1500" b="1">
                <a:solidFill>
                  <a:srgbClr val="EC4899"/>
                </a:solidFill>
              </a:defRPr>
            </a:pPr>
            <a:r>
              <a:t>🧮 Interaction Features (4)</a:t>
            </a:r>
          </a:p>
        </p:txBody>
      </p:sp>
      <p:sp>
        <p:nvSpPr>
          <p:cNvPr id="28" name="TextBox 27"/>
          <p:cNvSpPr txBox="1"/>
          <p:nvPr/>
        </p:nvSpPr>
        <p:spPr>
          <a:xfrm>
            <a:off x="8503920" y="4754880"/>
            <a:ext cx="2926080" cy="1371600"/>
          </a:xfrm>
          <a:prstGeom prst="rect">
            <a:avLst/>
          </a:prstGeom>
          <a:noFill/>
        </p:spPr>
        <p:txBody>
          <a:bodyPr wrap="square">
            <a:spAutoFit/>
          </a:bodyPr>
          <a:lstStyle/>
          <a:p>
            <a:pPr algn="l">
              <a:defRPr sz="1200" b="0">
                <a:solidFill>
                  <a:srgbClr val="374767"/>
                </a:solidFill>
              </a:defRPr>
            </a:pPr>
            <a:r>
              <a:t>Rainfall × Price (lag-1)</a:t>
            </a:r>
            <a:br/>
            <a:r>
              <a:t>CPI × Exchange rate</a:t>
            </a:r>
            <a:br/>
            <a:r>
              <a:t>Week sin × County dummies</a:t>
            </a:r>
            <a:br/>
            <a:r>
              <a:t>Rolling std × Price level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7. MODEL PERFORMANCE</a:t>
            </a:r>
          </a:p>
        </p:txBody>
      </p:sp>
      <p:sp>
        <p:nvSpPr>
          <p:cNvPr id="5" name="Rectangle 4"/>
          <p:cNvSpPr/>
          <p:nvPr/>
        </p:nvSpPr>
        <p:spPr>
          <a:xfrm>
            <a:off x="731520" y="1554480"/>
            <a:ext cx="2651760" cy="2011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2651760" cy="365760"/>
          </a:xfrm>
          <a:prstGeom prst="rect">
            <a:avLst/>
          </a:prstGeom>
          <a:noFill/>
        </p:spPr>
        <p:txBody>
          <a:bodyPr wrap="square">
            <a:spAutoFit/>
          </a:bodyPr>
          <a:lstStyle/>
          <a:p>
            <a:pPr algn="ctr">
              <a:defRPr sz="1400" b="0">
                <a:solidFill>
                  <a:srgbClr val="6B7280"/>
                </a:solidFill>
              </a:defRPr>
            </a:pPr>
            <a:r>
              <a:t>MASE</a:t>
            </a:r>
          </a:p>
        </p:txBody>
      </p:sp>
      <p:sp>
        <p:nvSpPr>
          <p:cNvPr id="8" name="TextBox 7"/>
          <p:cNvSpPr txBox="1"/>
          <p:nvPr/>
        </p:nvSpPr>
        <p:spPr>
          <a:xfrm>
            <a:off x="731520" y="2103120"/>
            <a:ext cx="2651760" cy="548640"/>
          </a:xfrm>
          <a:prstGeom prst="rect">
            <a:avLst/>
          </a:prstGeom>
          <a:noFill/>
        </p:spPr>
        <p:txBody>
          <a:bodyPr wrap="square">
            <a:spAutoFit/>
          </a:bodyPr>
          <a:lstStyle/>
          <a:p>
            <a:pPr algn="ctr">
              <a:defRPr sz="3200" b="1">
                <a:solidFill>
                  <a:srgbClr val="16A34A"/>
                </a:solidFill>
              </a:defRPr>
            </a:pPr>
            <a:r>
              <a:t>0.322</a:t>
            </a:r>
          </a:p>
        </p:txBody>
      </p:sp>
      <p:sp>
        <p:nvSpPr>
          <p:cNvPr id="9" name="TextBox 8"/>
          <p:cNvSpPr txBox="1"/>
          <p:nvPr/>
        </p:nvSpPr>
        <p:spPr>
          <a:xfrm>
            <a:off x="914400" y="2651760"/>
            <a:ext cx="2286000" cy="731520"/>
          </a:xfrm>
          <a:prstGeom prst="rect">
            <a:avLst/>
          </a:prstGeom>
          <a:noFill/>
        </p:spPr>
        <p:txBody>
          <a:bodyPr wrap="square">
            <a:spAutoFit/>
          </a:bodyPr>
          <a:lstStyle/>
          <a:p>
            <a:pPr algn="ctr">
              <a:defRPr sz="1100" b="0">
                <a:solidFill>
                  <a:srgbClr val="374767"/>
                </a:solidFill>
              </a:defRPr>
            </a:pPr>
            <a:r>
              <a:t>Mean Absolute Scaled Error</a:t>
            </a:r>
            <a:br/>
            <a:r>
              <a:t>&lt; 1.0 → better than naive</a:t>
            </a:r>
            <a:br/>
            <a:r>
              <a:t>Excellent forecast accuracy</a:t>
            </a:r>
          </a:p>
        </p:txBody>
      </p:sp>
      <p:sp>
        <p:nvSpPr>
          <p:cNvPr id="10" name="Rectangle 9"/>
          <p:cNvSpPr/>
          <p:nvPr/>
        </p:nvSpPr>
        <p:spPr>
          <a:xfrm>
            <a:off x="3611880" y="1554480"/>
            <a:ext cx="2651760" cy="2011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55448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737360"/>
            <a:ext cx="2651760" cy="365760"/>
          </a:xfrm>
          <a:prstGeom prst="rect">
            <a:avLst/>
          </a:prstGeom>
          <a:noFill/>
        </p:spPr>
        <p:txBody>
          <a:bodyPr wrap="square">
            <a:spAutoFit/>
          </a:bodyPr>
          <a:lstStyle/>
          <a:p>
            <a:pPr algn="ctr">
              <a:defRPr sz="1400" b="0">
                <a:solidFill>
                  <a:srgbClr val="6B7280"/>
                </a:solidFill>
              </a:defRPr>
            </a:pPr>
            <a:r>
              <a:t>Directional Acc.</a:t>
            </a:r>
          </a:p>
        </p:txBody>
      </p:sp>
      <p:sp>
        <p:nvSpPr>
          <p:cNvPr id="13" name="TextBox 12"/>
          <p:cNvSpPr txBox="1"/>
          <p:nvPr/>
        </p:nvSpPr>
        <p:spPr>
          <a:xfrm>
            <a:off x="3611880" y="2103120"/>
            <a:ext cx="2651760" cy="548640"/>
          </a:xfrm>
          <a:prstGeom prst="rect">
            <a:avLst/>
          </a:prstGeom>
          <a:noFill/>
        </p:spPr>
        <p:txBody>
          <a:bodyPr wrap="square">
            <a:spAutoFit/>
          </a:bodyPr>
          <a:lstStyle/>
          <a:p>
            <a:pPr algn="ctr">
              <a:defRPr sz="3200" b="1">
                <a:solidFill>
                  <a:srgbClr val="16A34A"/>
                </a:solidFill>
              </a:defRPr>
            </a:pPr>
            <a:r>
              <a:t>75.5%</a:t>
            </a:r>
          </a:p>
        </p:txBody>
      </p:sp>
      <p:sp>
        <p:nvSpPr>
          <p:cNvPr id="14" name="TextBox 13"/>
          <p:cNvSpPr txBox="1"/>
          <p:nvPr/>
        </p:nvSpPr>
        <p:spPr>
          <a:xfrm>
            <a:off x="3794760" y="2651760"/>
            <a:ext cx="2286000" cy="731520"/>
          </a:xfrm>
          <a:prstGeom prst="rect">
            <a:avLst/>
          </a:prstGeom>
          <a:noFill/>
        </p:spPr>
        <p:txBody>
          <a:bodyPr wrap="square">
            <a:spAutoFit/>
          </a:bodyPr>
          <a:lstStyle/>
          <a:p>
            <a:pPr algn="ctr">
              <a:defRPr sz="1100" b="0">
                <a:solidFill>
                  <a:srgbClr val="374767"/>
                </a:solidFill>
              </a:defRPr>
            </a:pPr>
            <a:r>
              <a:t>Direction prediction accuracy</a:t>
            </a:r>
            <a:br/>
            <a:r>
              <a:t>Random = 50%</a:t>
            </a:r>
            <a:br/>
            <a:r>
              <a:t>Strong directional signal</a:t>
            </a:r>
          </a:p>
        </p:txBody>
      </p:sp>
      <p:sp>
        <p:nvSpPr>
          <p:cNvPr id="15" name="Rectangle 14"/>
          <p:cNvSpPr/>
          <p:nvPr/>
        </p:nvSpPr>
        <p:spPr>
          <a:xfrm>
            <a:off x="6492240" y="1554480"/>
            <a:ext cx="2651760" cy="2011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55448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737360"/>
            <a:ext cx="2651760" cy="365760"/>
          </a:xfrm>
          <a:prstGeom prst="rect">
            <a:avLst/>
          </a:prstGeom>
          <a:noFill/>
        </p:spPr>
        <p:txBody>
          <a:bodyPr wrap="square">
            <a:spAutoFit/>
          </a:bodyPr>
          <a:lstStyle/>
          <a:p>
            <a:pPr algn="ctr">
              <a:defRPr sz="1400" b="0">
                <a:solidFill>
                  <a:srgbClr val="6B7280"/>
                </a:solidFill>
              </a:defRPr>
            </a:pPr>
            <a:r>
              <a:t>MAE</a:t>
            </a:r>
          </a:p>
        </p:txBody>
      </p:sp>
      <p:sp>
        <p:nvSpPr>
          <p:cNvPr id="18" name="TextBox 17"/>
          <p:cNvSpPr txBox="1"/>
          <p:nvPr/>
        </p:nvSpPr>
        <p:spPr>
          <a:xfrm>
            <a:off x="6492240" y="2103120"/>
            <a:ext cx="2651760" cy="548640"/>
          </a:xfrm>
          <a:prstGeom prst="rect">
            <a:avLst/>
          </a:prstGeom>
          <a:noFill/>
        </p:spPr>
        <p:txBody>
          <a:bodyPr wrap="square">
            <a:spAutoFit/>
          </a:bodyPr>
          <a:lstStyle/>
          <a:p>
            <a:pPr algn="ctr">
              <a:defRPr sz="3200" b="1">
                <a:solidFill>
                  <a:srgbClr val="16A34A"/>
                </a:solidFill>
              </a:defRPr>
            </a:pPr>
            <a:r>
              <a:t>2.07 KES</a:t>
            </a:r>
          </a:p>
        </p:txBody>
      </p:sp>
      <p:sp>
        <p:nvSpPr>
          <p:cNvPr id="19" name="TextBox 18"/>
          <p:cNvSpPr txBox="1"/>
          <p:nvPr/>
        </p:nvSpPr>
        <p:spPr>
          <a:xfrm>
            <a:off x="6675120" y="2651760"/>
            <a:ext cx="2286000" cy="731520"/>
          </a:xfrm>
          <a:prstGeom prst="rect">
            <a:avLst/>
          </a:prstGeom>
          <a:noFill/>
        </p:spPr>
        <p:txBody>
          <a:bodyPr wrap="square">
            <a:spAutoFit/>
          </a:bodyPr>
          <a:lstStyle/>
          <a:p>
            <a:pPr algn="ctr">
              <a:defRPr sz="1100" b="0">
                <a:solidFill>
                  <a:srgbClr val="374767"/>
                </a:solidFill>
              </a:defRPr>
            </a:pPr>
            <a:r>
              <a:t>Mean Absolute Error</a:t>
            </a:r>
            <a:br/>
            <a:r>
              <a:t>In original price units</a:t>
            </a:r>
            <a:br/>
            <a:r>
              <a:t>±KES 2.07/kg typical error</a:t>
            </a:r>
          </a:p>
        </p:txBody>
      </p:sp>
      <p:sp>
        <p:nvSpPr>
          <p:cNvPr id="20" name="Rectangle 19"/>
          <p:cNvSpPr/>
          <p:nvPr/>
        </p:nvSpPr>
        <p:spPr>
          <a:xfrm>
            <a:off x="9372600" y="1554480"/>
            <a:ext cx="2651760" cy="2011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72600" y="1554480"/>
            <a:ext cx="265176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600" y="1737360"/>
            <a:ext cx="2651760" cy="365760"/>
          </a:xfrm>
          <a:prstGeom prst="rect">
            <a:avLst/>
          </a:prstGeom>
          <a:noFill/>
        </p:spPr>
        <p:txBody>
          <a:bodyPr wrap="square">
            <a:spAutoFit/>
          </a:bodyPr>
          <a:lstStyle/>
          <a:p>
            <a:pPr algn="ctr">
              <a:defRPr sz="1400" b="0">
                <a:solidFill>
                  <a:srgbClr val="6B7280"/>
                </a:solidFill>
              </a:defRPr>
            </a:pPr>
            <a:r>
              <a:t>sMAPE</a:t>
            </a:r>
          </a:p>
        </p:txBody>
      </p:sp>
      <p:sp>
        <p:nvSpPr>
          <p:cNvPr id="23" name="TextBox 22"/>
          <p:cNvSpPr txBox="1"/>
          <p:nvPr/>
        </p:nvSpPr>
        <p:spPr>
          <a:xfrm>
            <a:off x="9372600" y="2103120"/>
            <a:ext cx="2651760" cy="548640"/>
          </a:xfrm>
          <a:prstGeom prst="rect">
            <a:avLst/>
          </a:prstGeom>
          <a:noFill/>
        </p:spPr>
        <p:txBody>
          <a:bodyPr wrap="square">
            <a:spAutoFit/>
          </a:bodyPr>
          <a:lstStyle/>
          <a:p>
            <a:pPr algn="ctr">
              <a:defRPr sz="3200" b="1">
                <a:solidFill>
                  <a:srgbClr val="16A34A"/>
                </a:solidFill>
              </a:defRPr>
            </a:pPr>
            <a:r>
              <a:t>4.8%</a:t>
            </a:r>
          </a:p>
        </p:txBody>
      </p:sp>
      <p:sp>
        <p:nvSpPr>
          <p:cNvPr id="24" name="TextBox 23"/>
          <p:cNvSpPr txBox="1"/>
          <p:nvPr/>
        </p:nvSpPr>
        <p:spPr>
          <a:xfrm>
            <a:off x="9555480" y="2651760"/>
            <a:ext cx="2286000" cy="731520"/>
          </a:xfrm>
          <a:prstGeom prst="rect">
            <a:avLst/>
          </a:prstGeom>
          <a:noFill/>
        </p:spPr>
        <p:txBody>
          <a:bodyPr wrap="square">
            <a:spAutoFit/>
          </a:bodyPr>
          <a:lstStyle/>
          <a:p>
            <a:pPr algn="ctr">
              <a:defRPr sz="1100" b="0">
                <a:solidFill>
                  <a:srgbClr val="374767"/>
                </a:solidFill>
              </a:defRPr>
            </a:pPr>
            <a:r>
              <a:t>Symmetric Mean Absolute</a:t>
            </a:r>
            <a:br/>
            <a:r>
              <a:t>Percentage Error</a:t>
            </a:r>
            <a:br/>
            <a:r>
              <a:t>Highly accurate in % terms</a:t>
            </a:r>
          </a:p>
        </p:txBody>
      </p:sp>
      <p:sp>
        <p:nvSpPr>
          <p:cNvPr id="25" name="TextBox 24"/>
          <p:cNvSpPr txBox="1"/>
          <p:nvPr/>
        </p:nvSpPr>
        <p:spPr>
          <a:xfrm>
            <a:off x="731520" y="3840480"/>
            <a:ext cx="10515600" cy="457200"/>
          </a:xfrm>
          <a:prstGeom prst="rect">
            <a:avLst/>
          </a:prstGeom>
          <a:noFill/>
        </p:spPr>
        <p:txBody>
          <a:bodyPr wrap="square">
            <a:spAutoFit/>
          </a:bodyPr>
          <a:lstStyle/>
          <a:p>
            <a:pPr algn="l">
              <a:defRPr sz="1800" b="1">
                <a:solidFill>
                  <a:srgbClr val="1E3A5F"/>
                </a:solidFill>
              </a:defRPr>
            </a:pPr>
            <a:r>
              <a:t>Per-County Performance (Pooled XGBoost)</a:t>
            </a:r>
          </a:p>
        </p:txBody>
      </p:sp>
      <p:sp>
        <p:nvSpPr>
          <p:cNvPr id="26" name="Rectangle 25"/>
          <p:cNvSpPr/>
          <p:nvPr/>
        </p:nvSpPr>
        <p:spPr>
          <a:xfrm>
            <a:off x="1371600" y="4389120"/>
            <a:ext cx="914400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4407407"/>
            <a:ext cx="1371600" cy="320040"/>
          </a:xfrm>
          <a:prstGeom prst="rect">
            <a:avLst/>
          </a:prstGeom>
          <a:noFill/>
        </p:spPr>
        <p:txBody>
          <a:bodyPr wrap="square">
            <a:spAutoFit/>
          </a:bodyPr>
          <a:lstStyle/>
          <a:p>
            <a:pPr algn="ctr">
              <a:defRPr sz="1300" b="1">
                <a:solidFill>
                  <a:srgbClr val="FFFFFF"/>
                </a:solidFill>
              </a:defRPr>
            </a:pPr>
            <a:r>
              <a:t>County</a:t>
            </a:r>
          </a:p>
        </p:txBody>
      </p:sp>
      <p:sp>
        <p:nvSpPr>
          <p:cNvPr id="28" name="TextBox 27"/>
          <p:cNvSpPr txBox="1"/>
          <p:nvPr/>
        </p:nvSpPr>
        <p:spPr>
          <a:xfrm>
            <a:off x="2743200" y="4407407"/>
            <a:ext cx="2286000" cy="320040"/>
          </a:xfrm>
          <a:prstGeom prst="rect">
            <a:avLst/>
          </a:prstGeom>
          <a:noFill/>
        </p:spPr>
        <p:txBody>
          <a:bodyPr wrap="square">
            <a:spAutoFit/>
          </a:bodyPr>
          <a:lstStyle/>
          <a:p>
            <a:pPr algn="ctr">
              <a:defRPr sz="1300" b="1">
                <a:solidFill>
                  <a:srgbClr val="FFFFFF"/>
                </a:solidFill>
              </a:defRPr>
            </a:pPr>
            <a:r>
              <a:t>MASE</a:t>
            </a:r>
          </a:p>
        </p:txBody>
      </p:sp>
      <p:sp>
        <p:nvSpPr>
          <p:cNvPr id="29" name="TextBox 28"/>
          <p:cNvSpPr txBox="1"/>
          <p:nvPr/>
        </p:nvSpPr>
        <p:spPr>
          <a:xfrm>
            <a:off x="5029200" y="4407407"/>
            <a:ext cx="2286000" cy="320040"/>
          </a:xfrm>
          <a:prstGeom prst="rect">
            <a:avLst/>
          </a:prstGeom>
          <a:noFill/>
        </p:spPr>
        <p:txBody>
          <a:bodyPr wrap="square">
            <a:spAutoFit/>
          </a:bodyPr>
          <a:lstStyle/>
          <a:p>
            <a:pPr algn="ctr">
              <a:defRPr sz="1300" b="1">
                <a:solidFill>
                  <a:srgbClr val="FFFFFF"/>
                </a:solidFill>
              </a:defRPr>
            </a:pPr>
            <a:r>
              <a:t>Dir Acc</a:t>
            </a:r>
          </a:p>
        </p:txBody>
      </p:sp>
      <p:sp>
        <p:nvSpPr>
          <p:cNvPr id="30" name="TextBox 29"/>
          <p:cNvSpPr txBox="1"/>
          <p:nvPr/>
        </p:nvSpPr>
        <p:spPr>
          <a:xfrm>
            <a:off x="7315200" y="4407407"/>
            <a:ext cx="2286000" cy="320040"/>
          </a:xfrm>
          <a:prstGeom prst="rect">
            <a:avLst/>
          </a:prstGeom>
          <a:noFill/>
        </p:spPr>
        <p:txBody>
          <a:bodyPr wrap="square">
            <a:spAutoFit/>
          </a:bodyPr>
          <a:lstStyle/>
          <a:p>
            <a:pPr algn="ctr">
              <a:defRPr sz="1300" b="1">
                <a:solidFill>
                  <a:srgbClr val="FFFFFF"/>
                </a:solidFill>
              </a:defRPr>
            </a:pPr>
            <a:r>
              <a:t>MAE</a:t>
            </a:r>
          </a:p>
        </p:txBody>
      </p:sp>
      <p:sp>
        <p:nvSpPr>
          <p:cNvPr id="31" name="TextBox 30"/>
          <p:cNvSpPr txBox="1"/>
          <p:nvPr/>
        </p:nvSpPr>
        <p:spPr>
          <a:xfrm>
            <a:off x="9601200" y="4407407"/>
            <a:ext cx="2286000" cy="320040"/>
          </a:xfrm>
          <a:prstGeom prst="rect">
            <a:avLst/>
          </a:prstGeom>
          <a:noFill/>
        </p:spPr>
        <p:txBody>
          <a:bodyPr wrap="square">
            <a:spAutoFit/>
          </a:bodyPr>
          <a:lstStyle/>
          <a:p>
            <a:pPr algn="ctr">
              <a:defRPr sz="1300" b="1">
                <a:solidFill>
                  <a:srgbClr val="FFFFFF"/>
                </a:solidFill>
              </a:defRPr>
            </a:pPr>
            <a:r>
              <a:t>sMAPE</a:t>
            </a:r>
          </a:p>
        </p:txBody>
      </p:sp>
      <p:sp>
        <p:nvSpPr>
          <p:cNvPr id="32" name="Rectangle 31"/>
          <p:cNvSpPr/>
          <p:nvPr/>
        </p:nvSpPr>
        <p:spPr>
          <a:xfrm>
            <a:off x="1371600" y="4754880"/>
            <a:ext cx="91440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4773168"/>
            <a:ext cx="1371600" cy="320040"/>
          </a:xfrm>
          <a:prstGeom prst="rect">
            <a:avLst/>
          </a:prstGeom>
          <a:noFill/>
        </p:spPr>
        <p:txBody>
          <a:bodyPr wrap="square">
            <a:spAutoFit/>
          </a:bodyPr>
          <a:lstStyle/>
          <a:p>
            <a:pPr algn="ctr">
              <a:defRPr sz="1300" b="0">
                <a:solidFill>
                  <a:srgbClr val="374767"/>
                </a:solidFill>
              </a:defRPr>
            </a:pPr>
            <a:r>
              <a:t>Nairobi</a:t>
            </a:r>
          </a:p>
        </p:txBody>
      </p:sp>
      <p:sp>
        <p:nvSpPr>
          <p:cNvPr id="34" name="TextBox 33"/>
          <p:cNvSpPr txBox="1"/>
          <p:nvPr/>
        </p:nvSpPr>
        <p:spPr>
          <a:xfrm>
            <a:off x="2743200" y="4773168"/>
            <a:ext cx="2286000" cy="320040"/>
          </a:xfrm>
          <a:prstGeom prst="rect">
            <a:avLst/>
          </a:prstGeom>
          <a:noFill/>
        </p:spPr>
        <p:txBody>
          <a:bodyPr wrap="square">
            <a:spAutoFit/>
          </a:bodyPr>
          <a:lstStyle/>
          <a:p>
            <a:pPr algn="ctr">
              <a:defRPr sz="1300" b="0">
                <a:solidFill>
                  <a:srgbClr val="374767"/>
                </a:solidFill>
              </a:defRPr>
            </a:pPr>
            <a:r>
              <a:t>0.341</a:t>
            </a:r>
          </a:p>
        </p:txBody>
      </p:sp>
      <p:sp>
        <p:nvSpPr>
          <p:cNvPr id="35" name="TextBox 34"/>
          <p:cNvSpPr txBox="1"/>
          <p:nvPr/>
        </p:nvSpPr>
        <p:spPr>
          <a:xfrm>
            <a:off x="5029200" y="4773168"/>
            <a:ext cx="2286000" cy="320040"/>
          </a:xfrm>
          <a:prstGeom prst="rect">
            <a:avLst/>
          </a:prstGeom>
          <a:noFill/>
        </p:spPr>
        <p:txBody>
          <a:bodyPr wrap="square">
            <a:spAutoFit/>
          </a:bodyPr>
          <a:lstStyle/>
          <a:p>
            <a:pPr algn="ctr">
              <a:defRPr sz="1300" b="0">
                <a:solidFill>
                  <a:srgbClr val="374767"/>
                </a:solidFill>
              </a:defRPr>
            </a:pPr>
            <a:r>
              <a:t>74.2%</a:t>
            </a:r>
          </a:p>
        </p:txBody>
      </p:sp>
      <p:sp>
        <p:nvSpPr>
          <p:cNvPr id="36" name="TextBox 35"/>
          <p:cNvSpPr txBox="1"/>
          <p:nvPr/>
        </p:nvSpPr>
        <p:spPr>
          <a:xfrm>
            <a:off x="7315200" y="4773168"/>
            <a:ext cx="2286000" cy="320040"/>
          </a:xfrm>
          <a:prstGeom prst="rect">
            <a:avLst/>
          </a:prstGeom>
          <a:noFill/>
        </p:spPr>
        <p:txBody>
          <a:bodyPr wrap="square">
            <a:spAutoFit/>
          </a:bodyPr>
          <a:lstStyle/>
          <a:p>
            <a:pPr algn="ctr">
              <a:defRPr sz="1300" b="0">
                <a:solidFill>
                  <a:srgbClr val="374767"/>
                </a:solidFill>
              </a:defRPr>
            </a:pPr>
            <a:r>
              <a:t>2.41 KES</a:t>
            </a:r>
          </a:p>
        </p:txBody>
      </p:sp>
      <p:sp>
        <p:nvSpPr>
          <p:cNvPr id="37" name="TextBox 36"/>
          <p:cNvSpPr txBox="1"/>
          <p:nvPr/>
        </p:nvSpPr>
        <p:spPr>
          <a:xfrm>
            <a:off x="9601200" y="4773168"/>
            <a:ext cx="2286000" cy="320040"/>
          </a:xfrm>
          <a:prstGeom prst="rect">
            <a:avLst/>
          </a:prstGeom>
          <a:noFill/>
        </p:spPr>
        <p:txBody>
          <a:bodyPr wrap="square">
            <a:spAutoFit/>
          </a:bodyPr>
          <a:lstStyle/>
          <a:p>
            <a:pPr algn="ctr">
              <a:defRPr sz="1300" b="0">
                <a:solidFill>
                  <a:srgbClr val="374767"/>
                </a:solidFill>
              </a:defRPr>
            </a:pPr>
            <a:r>
              <a:t>5.1%</a:t>
            </a:r>
          </a:p>
        </p:txBody>
      </p:sp>
      <p:sp>
        <p:nvSpPr>
          <p:cNvPr id="38" name="Rectangle 37"/>
          <p:cNvSpPr/>
          <p:nvPr/>
        </p:nvSpPr>
        <p:spPr>
          <a:xfrm>
            <a:off x="1371600" y="5120640"/>
            <a:ext cx="9144000" cy="3657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0" y="5138928"/>
            <a:ext cx="1371600" cy="320040"/>
          </a:xfrm>
          <a:prstGeom prst="rect">
            <a:avLst/>
          </a:prstGeom>
          <a:noFill/>
        </p:spPr>
        <p:txBody>
          <a:bodyPr wrap="square">
            <a:spAutoFit/>
          </a:bodyPr>
          <a:lstStyle/>
          <a:p>
            <a:pPr algn="ctr">
              <a:defRPr sz="1300" b="0">
                <a:solidFill>
                  <a:srgbClr val="374767"/>
                </a:solidFill>
              </a:defRPr>
            </a:pPr>
            <a:r>
              <a:t>Mombasa</a:t>
            </a:r>
          </a:p>
        </p:txBody>
      </p:sp>
      <p:sp>
        <p:nvSpPr>
          <p:cNvPr id="40" name="TextBox 39"/>
          <p:cNvSpPr txBox="1"/>
          <p:nvPr/>
        </p:nvSpPr>
        <p:spPr>
          <a:xfrm>
            <a:off x="2743200" y="5138928"/>
            <a:ext cx="2286000" cy="320040"/>
          </a:xfrm>
          <a:prstGeom prst="rect">
            <a:avLst/>
          </a:prstGeom>
          <a:noFill/>
        </p:spPr>
        <p:txBody>
          <a:bodyPr wrap="square">
            <a:spAutoFit/>
          </a:bodyPr>
          <a:lstStyle/>
          <a:p>
            <a:pPr algn="ctr">
              <a:defRPr sz="1300" b="0">
                <a:solidFill>
                  <a:srgbClr val="374767"/>
                </a:solidFill>
              </a:defRPr>
            </a:pPr>
            <a:r>
              <a:t>0.318</a:t>
            </a:r>
          </a:p>
        </p:txBody>
      </p:sp>
      <p:sp>
        <p:nvSpPr>
          <p:cNvPr id="41" name="TextBox 40"/>
          <p:cNvSpPr txBox="1"/>
          <p:nvPr/>
        </p:nvSpPr>
        <p:spPr>
          <a:xfrm>
            <a:off x="5029200" y="5138928"/>
            <a:ext cx="2286000" cy="320040"/>
          </a:xfrm>
          <a:prstGeom prst="rect">
            <a:avLst/>
          </a:prstGeom>
          <a:noFill/>
        </p:spPr>
        <p:txBody>
          <a:bodyPr wrap="square">
            <a:spAutoFit/>
          </a:bodyPr>
          <a:lstStyle/>
          <a:p>
            <a:pPr algn="ctr">
              <a:defRPr sz="1300" b="0">
                <a:solidFill>
                  <a:srgbClr val="374767"/>
                </a:solidFill>
              </a:defRPr>
            </a:pPr>
            <a:r>
              <a:t>76.8%</a:t>
            </a:r>
          </a:p>
        </p:txBody>
      </p:sp>
      <p:sp>
        <p:nvSpPr>
          <p:cNvPr id="42" name="TextBox 41"/>
          <p:cNvSpPr txBox="1"/>
          <p:nvPr/>
        </p:nvSpPr>
        <p:spPr>
          <a:xfrm>
            <a:off x="7315200" y="5138928"/>
            <a:ext cx="2286000" cy="320040"/>
          </a:xfrm>
          <a:prstGeom prst="rect">
            <a:avLst/>
          </a:prstGeom>
          <a:noFill/>
        </p:spPr>
        <p:txBody>
          <a:bodyPr wrap="square">
            <a:spAutoFit/>
          </a:bodyPr>
          <a:lstStyle/>
          <a:p>
            <a:pPr algn="ctr">
              <a:defRPr sz="1300" b="0">
                <a:solidFill>
                  <a:srgbClr val="374767"/>
                </a:solidFill>
              </a:defRPr>
            </a:pPr>
            <a:r>
              <a:t>2.18 KES</a:t>
            </a:r>
          </a:p>
        </p:txBody>
      </p:sp>
      <p:sp>
        <p:nvSpPr>
          <p:cNvPr id="43" name="TextBox 42"/>
          <p:cNvSpPr txBox="1"/>
          <p:nvPr/>
        </p:nvSpPr>
        <p:spPr>
          <a:xfrm>
            <a:off x="9601200" y="5138928"/>
            <a:ext cx="2286000" cy="320040"/>
          </a:xfrm>
          <a:prstGeom prst="rect">
            <a:avLst/>
          </a:prstGeom>
          <a:noFill/>
        </p:spPr>
        <p:txBody>
          <a:bodyPr wrap="square">
            <a:spAutoFit/>
          </a:bodyPr>
          <a:lstStyle/>
          <a:p>
            <a:pPr algn="ctr">
              <a:defRPr sz="1300" b="0">
                <a:solidFill>
                  <a:srgbClr val="374767"/>
                </a:solidFill>
              </a:defRPr>
            </a:pPr>
            <a:r>
              <a:t>4.6%</a:t>
            </a:r>
          </a:p>
        </p:txBody>
      </p:sp>
      <p:sp>
        <p:nvSpPr>
          <p:cNvPr id="44" name="Rectangle 43"/>
          <p:cNvSpPr/>
          <p:nvPr/>
        </p:nvSpPr>
        <p:spPr>
          <a:xfrm>
            <a:off x="1371600" y="5486400"/>
            <a:ext cx="91440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71600" y="5504688"/>
            <a:ext cx="1371600" cy="320040"/>
          </a:xfrm>
          <a:prstGeom prst="rect">
            <a:avLst/>
          </a:prstGeom>
          <a:noFill/>
        </p:spPr>
        <p:txBody>
          <a:bodyPr wrap="square">
            <a:spAutoFit/>
          </a:bodyPr>
          <a:lstStyle/>
          <a:p>
            <a:pPr algn="ctr">
              <a:defRPr sz="1300" b="0">
                <a:solidFill>
                  <a:srgbClr val="374767"/>
                </a:solidFill>
              </a:defRPr>
            </a:pPr>
            <a:r>
              <a:t>Kiambu</a:t>
            </a:r>
          </a:p>
        </p:txBody>
      </p:sp>
      <p:sp>
        <p:nvSpPr>
          <p:cNvPr id="46" name="TextBox 45"/>
          <p:cNvSpPr txBox="1"/>
          <p:nvPr/>
        </p:nvSpPr>
        <p:spPr>
          <a:xfrm>
            <a:off x="2743200" y="5504688"/>
            <a:ext cx="2286000" cy="320040"/>
          </a:xfrm>
          <a:prstGeom prst="rect">
            <a:avLst/>
          </a:prstGeom>
          <a:noFill/>
        </p:spPr>
        <p:txBody>
          <a:bodyPr wrap="square">
            <a:spAutoFit/>
          </a:bodyPr>
          <a:lstStyle/>
          <a:p>
            <a:pPr algn="ctr">
              <a:defRPr sz="1300" b="0">
                <a:solidFill>
                  <a:srgbClr val="374767"/>
                </a:solidFill>
              </a:defRPr>
            </a:pPr>
            <a:r>
              <a:t>0.309</a:t>
            </a:r>
          </a:p>
        </p:txBody>
      </p:sp>
      <p:sp>
        <p:nvSpPr>
          <p:cNvPr id="47" name="TextBox 46"/>
          <p:cNvSpPr txBox="1"/>
          <p:nvPr/>
        </p:nvSpPr>
        <p:spPr>
          <a:xfrm>
            <a:off x="5029200" y="5504688"/>
            <a:ext cx="2286000" cy="320040"/>
          </a:xfrm>
          <a:prstGeom prst="rect">
            <a:avLst/>
          </a:prstGeom>
          <a:noFill/>
        </p:spPr>
        <p:txBody>
          <a:bodyPr wrap="square">
            <a:spAutoFit/>
          </a:bodyPr>
          <a:lstStyle/>
          <a:p>
            <a:pPr algn="ctr">
              <a:defRPr sz="1300" b="0">
                <a:solidFill>
                  <a:srgbClr val="374767"/>
                </a:solidFill>
              </a:defRPr>
            </a:pPr>
            <a:r>
              <a:t>75.1%</a:t>
            </a:r>
          </a:p>
        </p:txBody>
      </p:sp>
      <p:sp>
        <p:nvSpPr>
          <p:cNvPr id="48" name="TextBox 47"/>
          <p:cNvSpPr txBox="1"/>
          <p:nvPr/>
        </p:nvSpPr>
        <p:spPr>
          <a:xfrm>
            <a:off x="7315200" y="5504688"/>
            <a:ext cx="2286000" cy="320040"/>
          </a:xfrm>
          <a:prstGeom prst="rect">
            <a:avLst/>
          </a:prstGeom>
          <a:noFill/>
        </p:spPr>
        <p:txBody>
          <a:bodyPr wrap="square">
            <a:spAutoFit/>
          </a:bodyPr>
          <a:lstStyle/>
          <a:p>
            <a:pPr algn="ctr">
              <a:defRPr sz="1300" b="0">
                <a:solidFill>
                  <a:srgbClr val="374767"/>
                </a:solidFill>
              </a:defRPr>
            </a:pPr>
            <a:r>
              <a:t>1.89 KES</a:t>
            </a:r>
          </a:p>
        </p:txBody>
      </p:sp>
      <p:sp>
        <p:nvSpPr>
          <p:cNvPr id="49" name="TextBox 48"/>
          <p:cNvSpPr txBox="1"/>
          <p:nvPr/>
        </p:nvSpPr>
        <p:spPr>
          <a:xfrm>
            <a:off x="9601200" y="5504688"/>
            <a:ext cx="2286000" cy="320040"/>
          </a:xfrm>
          <a:prstGeom prst="rect">
            <a:avLst/>
          </a:prstGeom>
          <a:noFill/>
        </p:spPr>
        <p:txBody>
          <a:bodyPr wrap="square">
            <a:spAutoFit/>
          </a:bodyPr>
          <a:lstStyle/>
          <a:p>
            <a:pPr algn="ctr">
              <a:defRPr sz="1300" b="0">
                <a:solidFill>
                  <a:srgbClr val="374767"/>
                </a:solidFill>
              </a:defRPr>
            </a:pPr>
            <a:r>
              <a:t>4.4%</a:t>
            </a:r>
          </a:p>
        </p:txBody>
      </p:sp>
      <p:sp>
        <p:nvSpPr>
          <p:cNvPr id="50" name="Rectangle 49"/>
          <p:cNvSpPr/>
          <p:nvPr/>
        </p:nvSpPr>
        <p:spPr>
          <a:xfrm>
            <a:off x="1371600" y="5852160"/>
            <a:ext cx="9144000" cy="3657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71600" y="5870448"/>
            <a:ext cx="1371600" cy="320040"/>
          </a:xfrm>
          <a:prstGeom prst="rect">
            <a:avLst/>
          </a:prstGeom>
          <a:noFill/>
        </p:spPr>
        <p:txBody>
          <a:bodyPr wrap="square">
            <a:spAutoFit/>
          </a:bodyPr>
          <a:lstStyle/>
          <a:p>
            <a:pPr algn="ctr">
              <a:defRPr sz="1300" b="0">
                <a:solidFill>
                  <a:srgbClr val="374767"/>
                </a:solidFill>
              </a:defRPr>
            </a:pPr>
            <a:r>
              <a:t>Kirinyaga</a:t>
            </a:r>
          </a:p>
        </p:txBody>
      </p:sp>
      <p:sp>
        <p:nvSpPr>
          <p:cNvPr id="52" name="TextBox 51"/>
          <p:cNvSpPr txBox="1"/>
          <p:nvPr/>
        </p:nvSpPr>
        <p:spPr>
          <a:xfrm>
            <a:off x="2743200" y="5870448"/>
            <a:ext cx="2286000" cy="320040"/>
          </a:xfrm>
          <a:prstGeom prst="rect">
            <a:avLst/>
          </a:prstGeom>
          <a:noFill/>
        </p:spPr>
        <p:txBody>
          <a:bodyPr wrap="square">
            <a:spAutoFit/>
          </a:bodyPr>
          <a:lstStyle/>
          <a:p>
            <a:pPr algn="ctr">
              <a:defRPr sz="1300" b="0">
                <a:solidFill>
                  <a:srgbClr val="374767"/>
                </a:solidFill>
              </a:defRPr>
            </a:pPr>
            <a:r>
              <a:t>0.335</a:t>
            </a:r>
          </a:p>
        </p:txBody>
      </p:sp>
      <p:sp>
        <p:nvSpPr>
          <p:cNvPr id="53" name="TextBox 52"/>
          <p:cNvSpPr txBox="1"/>
          <p:nvPr/>
        </p:nvSpPr>
        <p:spPr>
          <a:xfrm>
            <a:off x="5029200" y="5870448"/>
            <a:ext cx="2286000" cy="320040"/>
          </a:xfrm>
          <a:prstGeom prst="rect">
            <a:avLst/>
          </a:prstGeom>
          <a:noFill/>
        </p:spPr>
        <p:txBody>
          <a:bodyPr wrap="square">
            <a:spAutoFit/>
          </a:bodyPr>
          <a:lstStyle/>
          <a:p>
            <a:pPr algn="ctr">
              <a:defRPr sz="1300" b="0">
                <a:solidFill>
                  <a:srgbClr val="374767"/>
                </a:solidFill>
              </a:defRPr>
            </a:pPr>
            <a:r>
              <a:t>73.9%</a:t>
            </a:r>
          </a:p>
        </p:txBody>
      </p:sp>
      <p:sp>
        <p:nvSpPr>
          <p:cNvPr id="54" name="TextBox 53"/>
          <p:cNvSpPr txBox="1"/>
          <p:nvPr/>
        </p:nvSpPr>
        <p:spPr>
          <a:xfrm>
            <a:off x="7315200" y="5870448"/>
            <a:ext cx="2286000" cy="320040"/>
          </a:xfrm>
          <a:prstGeom prst="rect">
            <a:avLst/>
          </a:prstGeom>
          <a:noFill/>
        </p:spPr>
        <p:txBody>
          <a:bodyPr wrap="square">
            <a:spAutoFit/>
          </a:bodyPr>
          <a:lstStyle/>
          <a:p>
            <a:pPr algn="ctr">
              <a:defRPr sz="1300" b="0">
                <a:solidFill>
                  <a:srgbClr val="374767"/>
                </a:solidFill>
              </a:defRPr>
            </a:pPr>
            <a:r>
              <a:t>1.96 KES</a:t>
            </a:r>
          </a:p>
        </p:txBody>
      </p:sp>
      <p:sp>
        <p:nvSpPr>
          <p:cNvPr id="55" name="TextBox 54"/>
          <p:cNvSpPr txBox="1"/>
          <p:nvPr/>
        </p:nvSpPr>
        <p:spPr>
          <a:xfrm>
            <a:off x="9601200" y="5870448"/>
            <a:ext cx="2286000" cy="320040"/>
          </a:xfrm>
          <a:prstGeom prst="rect">
            <a:avLst/>
          </a:prstGeom>
          <a:noFill/>
        </p:spPr>
        <p:txBody>
          <a:bodyPr wrap="square">
            <a:spAutoFit/>
          </a:bodyPr>
          <a:lstStyle/>
          <a:p>
            <a:pPr algn="ctr">
              <a:defRPr sz="1300" b="0">
                <a:solidFill>
                  <a:srgbClr val="374767"/>
                </a:solidFill>
              </a:defRPr>
            </a:pPr>
            <a:r>
              <a:t>4.9%</a:t>
            </a:r>
          </a:p>
        </p:txBody>
      </p:sp>
      <p:sp>
        <p:nvSpPr>
          <p:cNvPr id="56" name="Rectangle 55"/>
          <p:cNvSpPr/>
          <p:nvPr/>
        </p:nvSpPr>
        <p:spPr>
          <a:xfrm>
            <a:off x="1371600" y="6217920"/>
            <a:ext cx="91440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71600" y="6236208"/>
            <a:ext cx="1371600" cy="320040"/>
          </a:xfrm>
          <a:prstGeom prst="rect">
            <a:avLst/>
          </a:prstGeom>
          <a:noFill/>
        </p:spPr>
        <p:txBody>
          <a:bodyPr wrap="square">
            <a:spAutoFit/>
          </a:bodyPr>
          <a:lstStyle/>
          <a:p>
            <a:pPr algn="ctr">
              <a:defRPr sz="1300" b="0">
                <a:solidFill>
                  <a:srgbClr val="374767"/>
                </a:solidFill>
              </a:defRPr>
            </a:pPr>
            <a:r>
              <a:t>Uasin-Gishu</a:t>
            </a:r>
          </a:p>
        </p:txBody>
      </p:sp>
      <p:sp>
        <p:nvSpPr>
          <p:cNvPr id="58" name="TextBox 57"/>
          <p:cNvSpPr txBox="1"/>
          <p:nvPr/>
        </p:nvSpPr>
        <p:spPr>
          <a:xfrm>
            <a:off x="2743200" y="6236208"/>
            <a:ext cx="2286000" cy="320040"/>
          </a:xfrm>
          <a:prstGeom prst="rect">
            <a:avLst/>
          </a:prstGeom>
          <a:noFill/>
        </p:spPr>
        <p:txBody>
          <a:bodyPr wrap="square">
            <a:spAutoFit/>
          </a:bodyPr>
          <a:lstStyle/>
          <a:p>
            <a:pPr algn="ctr">
              <a:defRPr sz="1300" b="0">
                <a:solidFill>
                  <a:srgbClr val="374767"/>
                </a:solidFill>
              </a:defRPr>
            </a:pPr>
            <a:r>
              <a:t>0.308</a:t>
            </a:r>
          </a:p>
        </p:txBody>
      </p:sp>
      <p:sp>
        <p:nvSpPr>
          <p:cNvPr id="59" name="TextBox 58"/>
          <p:cNvSpPr txBox="1"/>
          <p:nvPr/>
        </p:nvSpPr>
        <p:spPr>
          <a:xfrm>
            <a:off x="5029200" y="6236208"/>
            <a:ext cx="2286000" cy="320040"/>
          </a:xfrm>
          <a:prstGeom prst="rect">
            <a:avLst/>
          </a:prstGeom>
          <a:noFill/>
        </p:spPr>
        <p:txBody>
          <a:bodyPr wrap="square">
            <a:spAutoFit/>
          </a:bodyPr>
          <a:lstStyle/>
          <a:p>
            <a:pPr algn="ctr">
              <a:defRPr sz="1300" b="0">
                <a:solidFill>
                  <a:srgbClr val="374767"/>
                </a:solidFill>
              </a:defRPr>
            </a:pPr>
            <a:r>
              <a:t>77.5%</a:t>
            </a:r>
          </a:p>
        </p:txBody>
      </p:sp>
      <p:sp>
        <p:nvSpPr>
          <p:cNvPr id="60" name="TextBox 59"/>
          <p:cNvSpPr txBox="1"/>
          <p:nvPr/>
        </p:nvSpPr>
        <p:spPr>
          <a:xfrm>
            <a:off x="7315200" y="6236208"/>
            <a:ext cx="2286000" cy="320040"/>
          </a:xfrm>
          <a:prstGeom prst="rect">
            <a:avLst/>
          </a:prstGeom>
          <a:noFill/>
        </p:spPr>
        <p:txBody>
          <a:bodyPr wrap="square">
            <a:spAutoFit/>
          </a:bodyPr>
          <a:lstStyle/>
          <a:p>
            <a:pPr algn="ctr">
              <a:defRPr sz="1300" b="0">
                <a:solidFill>
                  <a:srgbClr val="374767"/>
                </a:solidFill>
              </a:defRPr>
            </a:pPr>
            <a:r>
              <a:t>1.72 KES</a:t>
            </a:r>
          </a:p>
        </p:txBody>
      </p:sp>
      <p:sp>
        <p:nvSpPr>
          <p:cNvPr id="61" name="TextBox 60"/>
          <p:cNvSpPr txBox="1"/>
          <p:nvPr/>
        </p:nvSpPr>
        <p:spPr>
          <a:xfrm>
            <a:off x="9601200" y="6236208"/>
            <a:ext cx="2286000" cy="320040"/>
          </a:xfrm>
          <a:prstGeom prst="rect">
            <a:avLst/>
          </a:prstGeom>
          <a:noFill/>
        </p:spPr>
        <p:txBody>
          <a:bodyPr wrap="square">
            <a:spAutoFit/>
          </a:bodyPr>
          <a:lstStyle/>
          <a:p>
            <a:pPr algn="ctr">
              <a:defRPr sz="1300" b="0">
                <a:solidFill>
                  <a:srgbClr val="374767"/>
                </a:solidFill>
              </a:defRPr>
            </a:pPr>
            <a:r>
              <a:t>4.3%</a:t>
            </a:r>
          </a:p>
        </p:txBody>
      </p:sp>
      <p:sp>
        <p:nvSpPr>
          <p:cNvPr id="62" name="TextBox 61"/>
          <p:cNvSpPr txBox="1"/>
          <p:nvPr/>
        </p:nvSpPr>
        <p:spPr>
          <a:xfrm>
            <a:off x="731520" y="6858000"/>
            <a:ext cx="10515600" cy="365760"/>
          </a:xfrm>
          <a:prstGeom prst="rect">
            <a:avLst/>
          </a:prstGeom>
          <a:noFill/>
        </p:spPr>
        <p:txBody>
          <a:bodyPr wrap="square">
            <a:spAutoFit/>
          </a:bodyPr>
          <a:lstStyle/>
          <a:p>
            <a:pPr algn="l">
              <a:defRPr sz="1400" b="0">
                <a:solidFill>
                  <a:srgbClr val="16A34A"/>
                </a:solidFill>
              </a:defRPr>
            </a:pPr>
            <a:r>
              <a:t>Key Insight: Pooled model outperforms per-county individual models — sharing data across counties improves all metrics. Fine-tuning from pooled weights showed no additional gain (county dummies already capture local patterns).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8. INTERACTIVE DASHBOARD — Streamlit Application</a:t>
            </a:r>
          </a:p>
        </p:txBody>
      </p:sp>
      <p:sp>
        <p:nvSpPr>
          <p:cNvPr id="5" name="Rectangle 4"/>
          <p:cNvSpPr/>
          <p:nvPr/>
        </p:nvSpPr>
        <p:spPr>
          <a:xfrm>
            <a:off x="731520" y="1554480"/>
            <a:ext cx="3474720" cy="4846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347472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2926080" cy="4389120"/>
          </a:xfrm>
          <a:prstGeom prst="rect">
            <a:avLst/>
          </a:prstGeom>
          <a:noFill/>
        </p:spPr>
        <p:txBody>
          <a:bodyPr wrap="square">
            <a:spAutoFit/>
          </a:bodyPr>
          <a:lstStyle/>
          <a:p>
            <a:pPr algn="l">
              <a:defRPr sz="1800" b="1">
                <a:solidFill>
                  <a:srgbClr val="16A34A"/>
                </a:solidFill>
              </a:defRPr>
            </a:pPr>
            <a:r>
              <a:t>📈 Price Forecast</a:t>
            </a:r>
          </a:p>
          <a:p>
            <a:pPr algn="l">
              <a:spcBef>
                <a:spcPts val="300"/>
              </a:spcBef>
              <a:defRPr sz="1200" b="0">
                <a:solidFill>
                  <a:srgbClr val="374767"/>
                </a:solidFill>
              </a:defRPr>
            </a:pPr>
            <a:r>
              <a:t>• County selector dropdown</a:t>
            </a:r>
          </a:p>
          <a:p>
            <a:pPr algn="l">
              <a:spcBef>
                <a:spcPts val="300"/>
              </a:spcBef>
              <a:defRPr sz="1200" b="0">
                <a:solidFill>
                  <a:srgbClr val="374767"/>
                </a:solidFill>
              </a:defRPr>
            </a:pPr>
            <a:r>
              <a:t>• Current price KPI (value ± change %)</a:t>
            </a:r>
          </a:p>
          <a:p>
            <a:pPr algn="l">
              <a:spcBef>
                <a:spcPts val="300"/>
              </a:spcBef>
              <a:defRPr sz="1200" b="0">
                <a:solidFill>
                  <a:srgbClr val="374767"/>
                </a:solidFill>
              </a:defRPr>
            </a:pPr>
            <a:r>
              <a:t>• Color-coded trend signal (Rising 🚀 / Falling 🔻 / Stable ➡️)</a:t>
            </a:r>
          </a:p>
          <a:p>
            <a:pPr algn="l">
              <a:spcBef>
                <a:spcPts val="300"/>
              </a:spcBef>
              <a:defRPr sz="1200" b="0">
                <a:solidFill>
                  <a:srgbClr val="374767"/>
                </a:solidFill>
              </a:defRPr>
            </a:pPr>
            <a:r>
              <a:t>• 12-week forecast chart with 80% confidence bands</a:t>
            </a:r>
          </a:p>
          <a:p>
            <a:pPr algn="l">
              <a:spcBef>
                <a:spcPts val="300"/>
              </a:spcBef>
              <a:defRPr sz="1200" b="0">
                <a:solidFill>
                  <a:srgbClr val="374767"/>
                </a:solidFill>
              </a:defRPr>
            </a:pPr>
            <a:r>
              <a:t>• Plain-language advice: Sell now vs Buy now vs Wait</a:t>
            </a:r>
          </a:p>
          <a:p>
            <a:pPr algn="l">
              <a:spcBef>
                <a:spcPts val="300"/>
              </a:spcBef>
              <a:defRPr sz="1200" b="0">
                <a:solidFill>
                  <a:srgbClr val="374767"/>
                </a:solidFill>
              </a:defRPr>
            </a:pPr>
            <a:r>
              <a:t>• Forecast table with weekly breakdown</a:t>
            </a:r>
          </a:p>
        </p:txBody>
      </p:sp>
      <p:sp>
        <p:nvSpPr>
          <p:cNvPr id="8" name="Rectangle 7"/>
          <p:cNvSpPr/>
          <p:nvPr/>
        </p:nvSpPr>
        <p:spPr>
          <a:xfrm>
            <a:off x="4480559" y="1554480"/>
            <a:ext cx="3474720" cy="4846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59" y="1554480"/>
            <a:ext cx="34747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1737360"/>
            <a:ext cx="2926080" cy="4389120"/>
          </a:xfrm>
          <a:prstGeom prst="rect">
            <a:avLst/>
          </a:prstGeom>
          <a:noFill/>
        </p:spPr>
        <p:txBody>
          <a:bodyPr wrap="square">
            <a:spAutoFit/>
          </a:bodyPr>
          <a:lstStyle/>
          <a:p>
            <a:pPr algn="l">
              <a:defRPr sz="1800" b="1">
                <a:solidFill>
                  <a:srgbClr val="3B82F6"/>
                </a:solidFill>
              </a:defRPr>
            </a:pPr>
            <a:r>
              <a:t>🏪 Compare Markets</a:t>
            </a:r>
          </a:p>
          <a:p>
            <a:pPr algn="l">
              <a:spcBef>
                <a:spcPts val="300"/>
              </a:spcBef>
              <a:defRPr sz="1200" b="0">
                <a:solidFill>
                  <a:srgbClr val="374767"/>
                </a:solidFill>
              </a:defRPr>
            </a:pPr>
            <a:r>
              <a:t>• Multi-county price comparison chart</a:t>
            </a:r>
          </a:p>
          <a:p>
            <a:pPr algn="l">
              <a:spcBef>
                <a:spcPts val="300"/>
              </a:spcBef>
              <a:defRPr sz="1200" b="0">
                <a:solidFill>
                  <a:srgbClr val="374767"/>
                </a:solidFill>
              </a:defRPr>
            </a:pPr>
            <a:r>
              <a:t>• Best market to SELL (highest price) highlighted</a:t>
            </a:r>
          </a:p>
          <a:p>
            <a:pPr algn="l">
              <a:spcBef>
                <a:spcPts val="300"/>
              </a:spcBef>
              <a:defRPr sz="1200" b="0">
                <a:solidFill>
                  <a:srgbClr val="374767"/>
                </a:solidFill>
              </a:defRPr>
            </a:pPr>
            <a:r>
              <a:t>• Best market to BUY (lowest price) highlighted</a:t>
            </a:r>
          </a:p>
          <a:p>
            <a:pPr algn="l">
              <a:spcBef>
                <a:spcPts val="300"/>
              </a:spcBef>
              <a:defRPr sz="1200" b="0">
                <a:solidFill>
                  <a:srgbClr val="374767"/>
                </a:solidFill>
              </a:defRPr>
            </a:pPr>
            <a:r>
              <a:t>• Side-by-side forecasts for all 5 counties</a:t>
            </a:r>
          </a:p>
          <a:p>
            <a:pPr algn="l">
              <a:spcBef>
                <a:spcPts val="300"/>
              </a:spcBef>
              <a:defRPr sz="1200" b="0">
                <a:solidFill>
                  <a:srgbClr val="374767"/>
                </a:solidFill>
              </a:defRPr>
            </a:pPr>
            <a:r>
              <a:t>• Market ranking by price level</a:t>
            </a:r>
          </a:p>
        </p:txBody>
      </p:sp>
      <p:sp>
        <p:nvSpPr>
          <p:cNvPr id="11" name="Rectangle 10"/>
          <p:cNvSpPr/>
          <p:nvPr/>
        </p:nvSpPr>
        <p:spPr>
          <a:xfrm>
            <a:off x="8229600" y="1554480"/>
            <a:ext cx="3474720" cy="4846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1554480"/>
            <a:ext cx="34747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737360"/>
            <a:ext cx="2926080" cy="4389120"/>
          </a:xfrm>
          <a:prstGeom prst="rect">
            <a:avLst/>
          </a:prstGeom>
          <a:noFill/>
        </p:spPr>
        <p:txBody>
          <a:bodyPr wrap="square">
            <a:spAutoFit/>
          </a:bodyPr>
          <a:lstStyle/>
          <a:p>
            <a:pPr algn="l">
              <a:defRPr sz="1800" b="1">
                <a:solidFill>
                  <a:srgbClr val="EA580C"/>
                </a:solidFill>
              </a:defRPr>
            </a:pPr>
            <a:r>
              <a:t>🗓 Best Time &amp; Tips</a:t>
            </a:r>
          </a:p>
          <a:p>
            <a:pPr algn="l">
              <a:spcBef>
                <a:spcPts val="300"/>
              </a:spcBef>
              <a:defRPr sz="1200" b="0">
                <a:solidFill>
                  <a:srgbClr val="374767"/>
                </a:solidFill>
              </a:defRPr>
            </a:pPr>
            <a:r>
              <a:t>• Best month to sell (seasonal peak analysis)</a:t>
            </a:r>
          </a:p>
          <a:p>
            <a:pPr algn="l">
              <a:spcBef>
                <a:spcPts val="300"/>
              </a:spcBef>
              <a:defRPr sz="1200" b="0">
                <a:solidFill>
                  <a:srgbClr val="374767"/>
                </a:solidFill>
              </a:defRPr>
            </a:pPr>
            <a:r>
              <a:t>• Best month to buy (seasonal trough analysis)</a:t>
            </a:r>
          </a:p>
          <a:p>
            <a:pPr algn="l">
              <a:spcBef>
                <a:spcPts val="300"/>
              </a:spcBef>
              <a:defRPr sz="1200" b="0">
                <a:solidFill>
                  <a:srgbClr val="374767"/>
                </a:solidFill>
              </a:defRPr>
            </a:pPr>
            <a:r>
              <a:t>• Month-by-month price guide (high/medium/low)</a:t>
            </a:r>
          </a:p>
          <a:p>
            <a:pPr algn="l">
              <a:spcBef>
                <a:spcPts val="300"/>
              </a:spcBef>
              <a:defRPr sz="1200" b="0">
                <a:solidFill>
                  <a:srgbClr val="374767"/>
                </a:solidFill>
              </a:defRPr>
            </a:pPr>
            <a:r>
              <a:t>• Tips cards: Farmer advice + Buyer advice</a:t>
            </a:r>
          </a:p>
          <a:p>
            <a:pPr algn="l">
              <a:spcBef>
                <a:spcPts val="300"/>
              </a:spcBef>
              <a:defRPr sz="1200" b="0">
                <a:solidFill>
                  <a:srgbClr val="374767"/>
                </a:solidFill>
              </a:defRPr>
            </a:pPr>
            <a:r>
              <a:t>• Price driver explanations (simple language)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822960"/>
          </a:xfrm>
          <a:prstGeom prst="rect">
            <a:avLst/>
          </a:prstGeom>
          <a:noFill/>
        </p:spPr>
        <p:txBody>
          <a:bodyPr wrap="square">
            <a:spAutoFit/>
          </a:bodyPr>
          <a:lstStyle/>
          <a:p>
            <a:pPr algn="l">
              <a:defRPr sz="3000" b="1">
                <a:solidFill>
                  <a:srgbClr val="FFFFFF"/>
                </a:solidFill>
              </a:defRPr>
            </a:pPr>
            <a:r>
              <a:t>DEPLOYMENT &amp; TECHNOLOGY STACK</a:t>
            </a:r>
          </a:p>
        </p:txBody>
      </p:sp>
      <p:sp>
        <p:nvSpPr>
          <p:cNvPr id="5" name="TextBox 4"/>
          <p:cNvSpPr txBox="1"/>
          <p:nvPr/>
        </p:nvSpPr>
        <p:spPr>
          <a:xfrm>
            <a:off x="731520" y="1554480"/>
            <a:ext cx="5029200" cy="4572000"/>
          </a:xfrm>
          <a:prstGeom prst="rect">
            <a:avLst/>
          </a:prstGeom>
          <a:noFill/>
        </p:spPr>
        <p:txBody>
          <a:bodyPr wrap="square">
            <a:spAutoFit/>
          </a:bodyPr>
          <a:lstStyle/>
          <a:p>
            <a:pPr algn="l">
              <a:defRPr sz="2200" b="1">
                <a:solidFill>
                  <a:srgbClr val="1E3A5F"/>
                </a:solidFill>
              </a:defRPr>
            </a:pPr>
            <a:r>
              <a:t>Technology Stack</a:t>
            </a:r>
          </a:p>
          <a:p>
            <a:pPr>
              <a:spcBef>
                <a:spcPts val="400"/>
              </a:spcBef>
              <a:defRPr sz="1500" b="0">
                <a:solidFill>
                  <a:srgbClr val="374767"/>
                </a:solidFill>
              </a:defRPr>
            </a:pPr>
            <a:r>
              <a:t>Python 3.13 — Core programming language</a:t>
            </a:r>
          </a:p>
          <a:p>
            <a:pPr>
              <a:spcBef>
                <a:spcPts val="400"/>
              </a:spcBef>
              <a:defRPr sz="1500" b="0">
                <a:solidFill>
                  <a:srgbClr val="374767"/>
                </a:solidFill>
              </a:defRPr>
            </a:pPr>
            <a:r>
              <a:t>XGBoost 2.1 — Gradient boosting model</a:t>
            </a:r>
          </a:p>
          <a:p>
            <a:pPr>
              <a:spcBef>
                <a:spcPts val="400"/>
              </a:spcBef>
              <a:defRPr sz="1500" b="0">
                <a:solidFill>
                  <a:srgbClr val="374767"/>
                </a:solidFill>
              </a:defRPr>
            </a:pPr>
            <a:r>
              <a:t>pandas / numpy — Data processing</a:t>
            </a:r>
          </a:p>
          <a:p>
            <a:pPr>
              <a:spcBef>
                <a:spcPts val="400"/>
              </a:spcBef>
              <a:defRPr sz="1500" b="0">
                <a:solidFill>
                  <a:srgbClr val="374767"/>
                </a:solidFill>
              </a:defRPr>
            </a:pPr>
            <a:r>
              <a:t>scikit-learn — Preprocessing &amp; metrics</a:t>
            </a:r>
          </a:p>
          <a:p>
            <a:pPr>
              <a:spcBef>
                <a:spcPts val="400"/>
              </a:spcBef>
              <a:defRPr sz="1500" b="0">
                <a:solidFill>
                  <a:srgbClr val="374767"/>
                </a:solidFill>
              </a:defRPr>
            </a:pPr>
            <a:r>
              <a:t>matplotlib — Charts &amp; visualizations</a:t>
            </a:r>
          </a:p>
          <a:p>
            <a:pPr>
              <a:spcBef>
                <a:spcPts val="400"/>
              </a:spcBef>
              <a:defRPr sz="1500" b="0">
                <a:solidFill>
                  <a:srgbClr val="374767"/>
                </a:solidFill>
              </a:defRPr>
            </a:pPr>
            <a:r>
              <a:t>joblib — Model serialization</a:t>
            </a:r>
          </a:p>
          <a:p>
            <a:pPr>
              <a:spcBef>
                <a:spcPts val="400"/>
              </a:spcBef>
              <a:defRPr sz="1500" b="0">
                <a:solidFill>
                  <a:srgbClr val="374767"/>
                </a:solidFill>
              </a:defRPr>
            </a:pPr>
            <a:r>
              <a:t>Streamlit — Interactive web dashboard</a:t>
            </a:r>
          </a:p>
          <a:p>
            <a:pPr>
              <a:spcBef>
                <a:spcPts val="400"/>
              </a:spcBef>
              <a:defRPr sz="1500" b="0">
                <a:solidFill>
                  <a:srgbClr val="374767"/>
                </a:solidFill>
              </a:defRPr>
            </a:pPr>
            <a:r>
              <a:t>python-pptx — Documentation generation</a:t>
            </a:r>
          </a:p>
        </p:txBody>
      </p:sp>
      <p:sp>
        <p:nvSpPr>
          <p:cNvPr id="6" name="TextBox 5"/>
          <p:cNvSpPr txBox="1"/>
          <p:nvPr/>
        </p:nvSpPr>
        <p:spPr>
          <a:xfrm>
            <a:off x="6400800" y="1554480"/>
            <a:ext cx="5029200" cy="4572000"/>
          </a:xfrm>
          <a:prstGeom prst="rect">
            <a:avLst/>
          </a:prstGeom>
          <a:noFill/>
        </p:spPr>
        <p:txBody>
          <a:bodyPr wrap="square">
            <a:spAutoFit/>
          </a:bodyPr>
          <a:lstStyle/>
          <a:p>
            <a:pPr algn="l">
              <a:defRPr sz="2200" b="1">
                <a:solidFill>
                  <a:srgbClr val="1E3A5F"/>
                </a:solidFill>
              </a:defRPr>
            </a:pPr>
            <a:r>
              <a:t>Deployment</a:t>
            </a:r>
          </a:p>
          <a:p>
            <a:pPr>
              <a:spcBef>
                <a:spcPts val="400"/>
              </a:spcBef>
              <a:defRPr sz="1500" b="0">
                <a:solidFill>
                  <a:srgbClr val="374767"/>
                </a:solidFill>
              </a:defRPr>
            </a:pPr>
            <a:r>
              <a:t>Hosted on Streamlit Cloud (free tier)</a:t>
            </a:r>
          </a:p>
          <a:p>
            <a:pPr>
              <a:spcBef>
                <a:spcPts val="400"/>
              </a:spcBef>
              <a:defRPr sz="1500" b="0">
                <a:solidFill>
                  <a:srgbClr val="374767"/>
                </a:solidFill>
              </a:defRPr>
            </a:pPr>
            <a:r>
              <a:t>GitHub repository for version control</a:t>
            </a:r>
          </a:p>
          <a:p>
            <a:pPr>
              <a:spcBef>
                <a:spcPts val="400"/>
              </a:spcBef>
              <a:defRPr sz="1500" b="0">
                <a:solidFill>
                  <a:srgbClr val="374767"/>
                </a:solidFill>
              </a:defRPr>
            </a:pPr>
            <a:r>
              <a:t>Auto-deploys on push to main branch</a:t>
            </a:r>
          </a:p>
          <a:p>
            <a:pPr>
              <a:spcBef>
                <a:spcPts val="400"/>
              </a:spcBef>
              <a:defRPr sz="1500" b="0">
                <a:solidFill>
                  <a:srgbClr val="374767"/>
                </a:solidFill>
              </a:defRPr>
            </a:pPr>
            <a:r>
              <a:t>No infrastructure management needed</a:t>
            </a:r>
          </a:p>
          <a:p>
            <a:pPr>
              <a:spcBef>
                <a:spcPts val="400"/>
              </a:spcBef>
              <a:defRPr sz="1500" b="0">
                <a:solidFill>
                  <a:srgbClr val="374767"/>
                </a:solidFill>
              </a:defRPr>
            </a:pPr>
            <a:r>
              <a:t>Public URL: *.streamlit.app</a:t>
            </a:r>
          </a:p>
          <a:p>
            <a:pPr algn="l">
              <a:spcBef>
                <a:spcPts val="600"/>
              </a:spcBef>
              <a:defRPr sz="800" b="0">
                <a:solidFill>
                  <a:srgbClr val="1A1A1A"/>
                </a:solidFill>
              </a:defRPr>
            </a:pPr>
          </a:p>
          <a:p>
            <a:pPr algn="l">
              <a:spcBef>
                <a:spcPts val="1200"/>
              </a:spcBef>
              <a:defRPr sz="1800" b="1">
                <a:solidFill>
                  <a:srgbClr val="3B82F6"/>
                </a:solidFill>
              </a:defRPr>
            </a:pPr>
            <a:r>
              <a:t>Total Project Size:</a:t>
            </a:r>
          </a:p>
          <a:p>
            <a:pPr>
              <a:spcBef>
                <a:spcPts val="400"/>
              </a:spcBef>
              <a:defRPr sz="1500" b="0">
                <a:solidFill>
                  <a:srgbClr val="374767"/>
                </a:solidFill>
              </a:defRPr>
            </a:pPr>
            <a:r>
              <a:t>~2,500 lines of Python code</a:t>
            </a:r>
          </a:p>
          <a:p>
            <a:pPr>
              <a:spcBef>
                <a:spcPts val="400"/>
              </a:spcBef>
              <a:defRPr sz="1500" b="0">
                <a:solidFill>
                  <a:srgbClr val="374767"/>
                </a:solidFill>
              </a:defRPr>
            </a:pPr>
            <a:r>
              <a:t>1,953-line academic documentation</a:t>
            </a:r>
          </a:p>
          <a:p>
            <a:pPr>
              <a:spcBef>
                <a:spcPts val="400"/>
              </a:spcBef>
              <a:defRPr sz="1500" b="0">
                <a:solidFill>
                  <a:srgbClr val="374767"/>
                </a:solidFill>
              </a:defRPr>
            </a:pPr>
            <a:r>
              <a:t>70+ page Word document generated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91695" cy="1371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914400"/>
            <a:ext cx="9418320" cy="914400"/>
          </a:xfrm>
          <a:prstGeom prst="rect">
            <a:avLst/>
          </a:prstGeom>
          <a:noFill/>
        </p:spPr>
        <p:txBody>
          <a:bodyPr wrap="square">
            <a:spAutoFit/>
          </a:bodyPr>
          <a:lstStyle/>
          <a:p>
            <a:pPr algn="ctr">
              <a:defRPr sz="4400" b="1">
                <a:solidFill>
                  <a:srgbClr val="FFFFFF"/>
                </a:solidFill>
              </a:defRPr>
            </a:pPr>
            <a:r>
              <a:t>THANK YOU</a:t>
            </a:r>
          </a:p>
        </p:txBody>
      </p:sp>
      <p:sp>
        <p:nvSpPr>
          <p:cNvPr id="5" name="TextBox 4"/>
          <p:cNvSpPr txBox="1"/>
          <p:nvPr/>
        </p:nvSpPr>
        <p:spPr>
          <a:xfrm>
            <a:off x="1371600" y="2286000"/>
            <a:ext cx="9418320" cy="3200400"/>
          </a:xfrm>
          <a:prstGeom prst="rect">
            <a:avLst/>
          </a:prstGeom>
          <a:noFill/>
        </p:spPr>
        <p:txBody>
          <a:bodyPr wrap="square">
            <a:spAutoFit/>
          </a:bodyPr>
          <a:lstStyle/>
          <a:p>
            <a:pPr algn="ctr">
              <a:defRPr sz="2400" b="0">
                <a:solidFill>
                  <a:srgbClr val="FDE68A"/>
                </a:solidFill>
              </a:defRPr>
            </a:pPr>
            <a:r>
              <a:t>Summary of Achievements</a:t>
            </a:r>
          </a:p>
          <a:p>
            <a:pPr algn="ctr">
              <a:spcBef>
                <a:spcPts val="1600"/>
              </a:spcBef>
              <a:defRPr sz="1800" b="0">
                <a:solidFill>
                  <a:srgbClr val="FFFFFF"/>
                </a:solidFill>
              </a:defRPr>
            </a:pPr>
            <a:r>
              <a:t>✓ Pooled XGBoost model achieving MASE = 0.322 and 75.5% directional accuracy</a:t>
            </a:r>
          </a:p>
          <a:p>
            <a:pPr algn="ctr">
              <a:spcBef>
                <a:spcPts val="800"/>
              </a:spcBef>
              <a:defRPr sz="1800" b="0">
                <a:solidFill>
                  <a:srgbClr val="FFFFFF"/>
                </a:solidFill>
              </a:defRPr>
            </a:pPr>
            <a:r>
              <a:t>✓ County-level forecasts with 80% confidence intervals for 5 Kenyan counties</a:t>
            </a:r>
          </a:p>
          <a:p>
            <a:pPr algn="ctr">
              <a:spcBef>
                <a:spcPts val="800"/>
              </a:spcBef>
              <a:defRPr sz="1800" b="0">
                <a:solidFill>
                  <a:srgbClr val="FFFFFF"/>
                </a:solidFill>
              </a:defRPr>
            </a:pPr>
            <a:r>
              <a:t>✓ Farmer-centric interactive dashboard with plain-language advice</a:t>
            </a:r>
          </a:p>
          <a:p>
            <a:pPr algn="ctr">
              <a:spcBef>
                <a:spcPts val="800"/>
              </a:spcBef>
              <a:defRPr sz="1800" b="0">
                <a:solidFill>
                  <a:srgbClr val="FFFFFF"/>
                </a:solidFill>
              </a:defRPr>
            </a:pPr>
            <a:r>
              <a:t>✓ Deployed on Streamlit Cloud for public access</a:t>
            </a:r>
          </a:p>
          <a:p>
            <a:pPr algn="ctr">
              <a:spcBef>
                <a:spcPts val="800"/>
              </a:spcBef>
              <a:defRPr sz="1800" b="0">
                <a:solidFill>
                  <a:srgbClr val="FFFFFF"/>
                </a:solidFill>
              </a:defRPr>
            </a:pPr>
            <a:r>
              <a:t>✓ Comprehensive academic documentation (70+ pages)</a:t>
            </a:r>
          </a:p>
          <a:p>
            <a:pPr algn="l">
              <a:spcBef>
                <a:spcPts val="2400"/>
              </a:spcBef>
              <a:defRPr sz="1200" b="0">
                <a:solidFill>
                  <a:srgbClr val="FFFFFF"/>
                </a:solidFill>
              </a:defRPr>
            </a:pPr>
          </a:p>
          <a:p>
            <a:pPr algn="ctr">
              <a:spcBef>
                <a:spcPts val="1200"/>
              </a:spcBef>
              <a:defRPr sz="1800" b="0">
                <a:solidFill>
                  <a:srgbClr val="93C5FD"/>
                </a:solidFill>
              </a:defRPr>
            </a:pPr>
            <a:r>
              <a:t>🌽  Maize Price Forecasting System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