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🌽 MAIZE PRICE FORECASTING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DE68A"/>
                </a:solidFill>
              </a:defRPr>
            </a:pPr>
            <a:r>
              <a:t>Machine Learning-Based Weekly Price Prediction for Kenyan Counties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3C5FD"/>
                </a:solidFill>
              </a:defRPr>
            </a:pPr>
            <a:r>
              <a:t>A Pooled XGBoost Approach with County-Level Fine-Tuning</a:t>
            </a:r>
          </a:p>
          <a:p>
            <a:pPr algn="ctr">
              <a:spcBef>
                <a:spcPts val="1200"/>
              </a:spcBef>
              <a:defRPr sz="1600" b="0">
                <a:solidFill>
                  <a:srgbClr val="9CA3AF"/>
                </a:solidFill>
              </a:defRPr>
            </a:pPr>
            <a:r>
              <a:t>Interactive Streamlit Dashboard  •  Expanding Window Cross-Validation  •  MASE &amp; Directional Accuracy</a:t>
            </a:r>
          </a:p>
          <a:p>
            <a:pPr algn="ctr">
              <a:spcBef>
                <a:spcPts val="400"/>
              </a:spcBef>
              <a:defRPr sz="1600" b="0">
                <a:solidFill>
                  <a:srgbClr val="9CA3AF"/>
                </a:solidFill>
              </a:defRPr>
            </a:pPr>
            <a:r>
              <a:t>5 Kenyan Counties  •  Δ-Price Forecasting  •  24-Week Forecast Horizon</a:t>
            </a:r>
          </a:p>
          <a:p>
            <a:pPr algn="l">
              <a:spcBef>
                <a:spcPts val="2000"/>
              </a:spcBef>
              <a:defRPr sz="1000" b="0">
                <a:solidFill>
                  <a:srgbClr val="FFFFFF"/>
                </a:solidFill>
              </a:defRPr>
            </a:pPr>
          </a:p>
          <a:p>
            <a:pPr algn="ctr"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Presented by: Timinah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  1.  Introduction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B7280"/>
                </a:solidFill>
              </a:defRPr>
            </a:pPr>
            <a:r>
              <a:t>         Project overview, background &amp; importance of maize in Kenya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  2.  Problem Statement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B7280"/>
                </a:solidFill>
              </a:defRPr>
            </a:pPr>
            <a:r>
              <a:t>         Key challenges across the maize value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3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  3.  Current System vs. To-Be System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B7280"/>
                </a:solidFill>
              </a:defRPr>
            </a:pPr>
            <a:r>
              <a:t>         How forecasting is done now vs. how it will be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8035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  4.  Proposed Solution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B7280"/>
                </a:solidFill>
              </a:defRPr>
            </a:pPr>
            <a:r>
              <a:t>         ML-based forecasting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7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  5.  Research Objectives / Questions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B7280"/>
                </a:solidFill>
              </a:defRPr>
            </a:pPr>
            <a:r>
              <a:t>         Main objective &amp; specific research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8619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  6.  Source of Data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B7280"/>
                </a:solidFill>
              </a:defRPr>
            </a:pPr>
            <a:r>
              <a:t>         KAMIS, AgriBORA, Weather &amp; Economic data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1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  7.  Project Pipeline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B7280"/>
                </a:solidFill>
              </a:defRPr>
            </a:pPr>
            <a:r>
              <a:t>         Complete workflow from data collection to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9203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  8.  Model Performance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B7280"/>
                </a:solidFill>
              </a:defRPr>
            </a:pPr>
            <a:r>
              <a:t>         MASE, Directional Accuracy, MAE, sMAPE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  9.  Dashboard Demonstration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B7280"/>
                </a:solidFill>
              </a:defRPr>
            </a:pPr>
            <a:r>
              <a:t>         Practical walkthrough of all 3 tabs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89787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  10.  Limitations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B7280"/>
                </a:solidFill>
              </a:defRPr>
            </a:pPr>
            <a:r>
              <a:t>         Current system 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  11.  Future Work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B7280"/>
                </a:solidFill>
              </a:defRPr>
            </a:pPr>
            <a:r>
              <a:t>         Planned improvements &amp; extensions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1. INTRODUCTION — What Is This Project?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</a:defRPr>
            </a:pPr>
            <a:r>
              <a:t>Project Overview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374767"/>
                </a:solidFill>
              </a:defRPr>
            </a:pPr>
            <a:r>
              <a:t>A machine learning-based system that predicts weekly maize prices for 5 major Kenyan counties up to 30 weeks ahead, presented through a farmer-friendly web dashboard.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200" b="1">
                <a:solidFill>
                  <a:srgbClr val="1E3A5F"/>
                </a:solidFill>
              </a:defRPr>
            </a:pPr>
            <a:r>
              <a:t>Why Maize Matters in Kenya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74767"/>
                </a:solidFill>
              </a:defRPr>
            </a:pPr>
            <a:r>
              <a:t>• 4.5 million smallholder farmers grow maize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374767"/>
                </a:solidFill>
              </a:defRPr>
            </a:pPr>
            <a:r>
              <a:t>• Average Kenyan consumes 98 kg of maize per year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374767"/>
                </a:solidFill>
              </a:defRPr>
            </a:pPr>
            <a:r>
              <a:t>• Annual production: ~40 million bags (90 kg each)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374767"/>
                </a:solidFill>
              </a:defRPr>
            </a:pPr>
            <a:r>
              <a:t>• Annual consumption: ~44 million bags — structural deficit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374767"/>
                </a:solidFill>
              </a:defRPr>
            </a:pPr>
            <a:r>
              <a:t>• 10 million people employed across the value chain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374767"/>
                </a:solidFill>
              </a:defRPr>
            </a:pPr>
            <a:r>
              <a:t>• Agriculture contributes 33% to Kenya's GDP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3716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</a:defRPr>
            </a:pPr>
            <a:r>
              <a:t>5 Target Counties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3B82F6"/>
                </a:solidFill>
              </a:defRPr>
            </a:pPr>
            <a:r>
              <a:t>  Nairobi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6B7280"/>
                </a:solidFill>
              </a:defRPr>
            </a:pPr>
            <a:r>
              <a:t>    Capital — largest consumer market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3B82F6"/>
                </a:solidFill>
              </a:defRPr>
            </a:pPr>
            <a:r>
              <a:t>  Mombasa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6B7280"/>
                </a:solidFill>
              </a:defRPr>
            </a:pPr>
            <a:r>
              <a:t>    Port city — import-dependent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3B82F6"/>
                </a:solidFill>
              </a:defRPr>
            </a:pPr>
            <a:r>
              <a:t>  Kiambu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6B7280"/>
                </a:solidFill>
              </a:defRPr>
            </a:pPr>
            <a:r>
              <a:t>    Mixed farming — near Nairobi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3B82F6"/>
                </a:solidFill>
              </a:defRPr>
            </a:pPr>
            <a:r>
              <a:t>  Kirinyaga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6B7280"/>
                </a:solidFill>
              </a:defRPr>
            </a:pPr>
            <a:r>
              <a:t>    Mixed farming — central Kenya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3B82F6"/>
                </a:solidFill>
              </a:defRPr>
            </a:pPr>
            <a:r>
              <a:t>  Uasin-Gishu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6B7280"/>
                </a:solidFill>
              </a:defRPr>
            </a:pPr>
            <a:r>
              <a:t>    Grain basket — surplus producer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200" b="1">
                <a:solidFill>
                  <a:srgbClr val="1E3A5F"/>
                </a:solidFill>
              </a:defRPr>
            </a:pPr>
            <a:r>
              <a:t>Price Volatility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74767"/>
                </a:solidFill>
              </a:defRPr>
            </a:pPr>
            <a:r>
              <a:t>Nairobi prices range from KES 30 to KES 58/kg — a 93% swing. A 90 kg bag fluctuates from KES 2,520 to KES 4,680.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2.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20640" cy="219456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12064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</a:defRPr>
            </a:pPr>
            <a:r>
              <a:t>👨‍🌾 Farmers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74767"/>
                </a:solidFill>
              </a:defRPr>
            </a:pPr>
            <a:r>
              <a:t>Distress sales at harvest low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74767"/>
                </a:solidFill>
              </a:defRPr>
            </a:pPr>
            <a:r>
              <a:t>Lost income: up to KES 40,000/season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74767"/>
                </a:solidFill>
              </a:defRPr>
            </a:pPr>
            <a:r>
              <a:t>No price information to plan when to sell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120640" cy="21945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1206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</a:defRPr>
            </a:pPr>
            <a:r>
              <a:t>🏪 Traders &amp; Millers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74767"/>
                </a:solidFill>
              </a:defRPr>
            </a:pPr>
            <a:r>
              <a:t>Weekly procurement: KES 2.8-5.2M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74767"/>
                </a:solidFill>
              </a:defRPr>
            </a:pPr>
            <a:r>
              <a:t>Can't hedge against price swings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74767"/>
                </a:solidFill>
              </a:defRPr>
            </a:pPr>
            <a:r>
              <a:t>Stock-out vs. overstocking dilemma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5120640" cy="21945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51206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🏛 Policymakers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74767"/>
                </a:solidFill>
              </a:defRPr>
            </a:pPr>
            <a:r>
              <a:t>Reactive crisis response only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74767"/>
                </a:solidFill>
              </a:defRPr>
            </a:pPr>
            <a:r>
              <a:t>Import permits issued after prices spike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74767"/>
                </a:solidFill>
              </a:defRPr>
            </a:pPr>
            <a:r>
              <a:t>No early warning system for food 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840480"/>
            <a:ext cx="5120640" cy="219456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384048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0233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</a:defRPr>
            </a:pPr>
            <a:r>
              <a:t>👪 Consumers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74767"/>
                </a:solidFill>
              </a:defRPr>
            </a:pPr>
            <a:r>
              <a:t>30% of food budget on maize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74767"/>
                </a:solidFill>
              </a:defRPr>
            </a:pPr>
            <a:r>
              <a:t>Price spikes add KES 800/month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74767"/>
                </a:solidFill>
              </a:defRPr>
            </a:pPr>
            <a:r>
              <a:t>Vulnerable households pushed into insecurity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The core problem: No accurate, timely, county-level price forecasts exist for Kenya's maize sector.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3. CURRENT SYSTEM vs. TO-BE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C2626"/>
                </a:solidFill>
              </a:defRPr>
            </a:pPr>
            <a:r>
              <a:t>❌ Current System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Manual price tracking — farmers ask neighbors or middlemen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Expert guesswork — no data-driven forecasts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National-level only — misses county-level variations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No uncertainty — point estimates without confidence ranges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Reactive — only know prices after they've changed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Inconsistent — no standardized methodology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Limited access — information doesn't reach rural farmers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No directional guidance — farmers don't know if prices will rise or fall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371600"/>
            <a:ext cx="5303520" cy="5029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53035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A34A"/>
                </a:solidFill>
              </a:defRPr>
            </a:pPr>
            <a:r>
              <a:t>✅ To-Be System (This Project)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Automated ML-based weekly price forecasts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Data-driven — XGBoost trained on 5 data sources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County-level — forecasts for each of 5 counties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80% confidence bands for risk-based decisions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Proactive — predicts 24 weeks ahead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Standardized — consistent methodology every week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Web-based — accessible from any device, anywhere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Directional signals — Rising/Falling/Stable with advice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4. PROPOSED SOLUTION —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</a:defRPr>
            </a:pPr>
            <a:r>
              <a:t>How It Works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Data Integration Layer — 5 sources combined into one dataset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Feature Engineering — 30 predictive features from raw data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Δ-Price Target — predict week-over-week change (not absolute price)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Pooled XGBoost — one model shared across all 5 counties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Expanding Window CV — 5-fold temporal cross-validation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Auto-Regressive Forecast — 24-week horizon with dampening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Interactive Dashboard — 3-tab Streamlit web application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Cloud Deployment — hosted on Streamlit Cloud (free)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</a:defRPr>
            </a:pPr>
            <a:r>
              <a:t>Why Machine Learning?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Captures non-linear relationships traditional stats miss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Learns from multiple data sources simultaneously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Adapts to changing market conditions automatically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Provides probabilistic forecasts (confidence intervals)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000" b="1">
                <a:solidFill>
                  <a:srgbClr val="16A34A"/>
                </a:solidFill>
              </a:defRPr>
            </a:pPr>
            <a:r>
              <a:t>Key Innovation: Pooled Training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74767"/>
                </a:solidFill>
              </a:defRPr>
            </a:pPr>
            <a:r>
              <a:t>All 5 counties share one model. County dummies let the model adjust for each county's unique price level. Counties with less data benefit from patterns learned in larger markets.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5. RESEARCH OBJECTIVES /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</a:defRPr>
            </a:pPr>
            <a:r>
              <a:t>Main Objective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374767"/>
                </a:solidFill>
              </a:defRPr>
            </a:pPr>
            <a:r>
              <a:t>To develop and evaluate a machine learning-based maize price forecasting system that provides accurate, county-level weekly price predictions with quantified uncertainty to support decision-making across Kenya's maize value 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</a:defRPr>
            </a:pPr>
            <a:r>
              <a:t>Research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566160"/>
            <a:ext cx="3200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566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767"/>
                </a:solidFill>
              </a:defRPr>
            </a:pPr>
            <a:r>
              <a:t>RQ1: How accurately can a pooled XGBoost model predict weekly maize price changes across 5 Kenyan counties?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069080"/>
            <a:ext cx="32004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69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069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767"/>
                </a:solidFill>
              </a:defRPr>
            </a:pPr>
            <a:r>
              <a:t>RQ2: What is the optimal set of features (price lags, weather, economic indicators, temporal features) for maize price prediction?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572000"/>
            <a:ext cx="32004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572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767"/>
                </a:solidFill>
              </a:defRPr>
            </a:pPr>
            <a:r>
              <a:t>RQ3: How does the pooled model compare to per-county individual models in terms of MASE and directional accuracy?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5074920"/>
            <a:ext cx="320040" cy="320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767"/>
                </a:solidFill>
              </a:defRPr>
            </a:pPr>
            <a:r>
              <a:t>RQ4: Can the model provide reliable directional signals (up/down) that are actionable for farmers and buyers?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5577840"/>
            <a:ext cx="32004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5778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577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767"/>
                </a:solidFill>
              </a:defRPr>
            </a:pPr>
            <a:r>
              <a:t>RQ5: How far into the future (4, 8, 12, 24 weeks) can the model maintain useful predictive accuracy?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6080760"/>
            <a:ext cx="32004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6080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6080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767"/>
                </a:solidFill>
              </a:defRPr>
            </a:pPr>
            <a:r>
              <a:t>RQ6: Can an interactive dashboard present forecasts in a way that is useful to non-technical stakeholders?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6. SOURCE OF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767"/>
                </a:solidFill>
              </a:defRPr>
            </a:pPr>
            <a:r>
              <a:t>Five data sources are integrated to create the training dataset: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9144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KAMIS (Ministry of Agriculture)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767"/>
                </a:solidFill>
              </a:defRPr>
            </a:pPr>
            <a:r>
              <a:t>Weekly retail &amp; wholesale maize prices</a:t>
            </a:r>
            <a:br/>
            <a:r>
              <a:t>for each county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03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Weekly</a:t>
            </a:r>
            <a:br/>
            <a:r>
              <a:t>2021-2025</a:t>
            </a:r>
            <a:br/>
            <a:r>
              <a:t>~15,000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91440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</a:defRPr>
            </a:pPr>
            <a:r>
              <a:t>AgriBORA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767"/>
                </a:solidFill>
              </a:defRPr>
            </a:pPr>
            <a:r>
              <a:t>Transaction-based wholesale</a:t>
            </a:r>
            <a:br/>
            <a:r>
              <a:t>prices (supplementary)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Per transaction</a:t>
            </a:r>
            <a:br/>
            <a:r>
              <a:t>2021-2025</a:t>
            </a:r>
            <a:br/>
            <a:r>
              <a:t>~13,000 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9144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Open-Meteo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519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767"/>
                </a:solidFill>
              </a:defRPr>
            </a:pPr>
            <a:r>
              <a:t>Daily weather data: temperature,</a:t>
            </a:r>
            <a:br/>
            <a:r>
              <a:t>rainfall, wind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931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Daily → Weekly</a:t>
            </a:r>
            <a:br/>
            <a:r>
              <a:t>2021-2025</a:t>
            </a:r>
            <a:br/>
            <a:r>
              <a:t>~800,000 records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846320"/>
            <a:ext cx="91440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</a:defRPr>
            </a:pPr>
            <a:r>
              <a:t>KNBS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663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767"/>
                </a:solidFill>
              </a:defRPr>
            </a:pPr>
            <a:r>
              <a:t>Consumer Price Index (CPI)</a:t>
            </a:r>
            <a:br/>
            <a:r>
              <a:t>— measures inflation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846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Monthly</a:t>
            </a:r>
            <a:br/>
            <a:r>
              <a:t>2021-2025</a:t>
            </a:r>
            <a:br/>
            <a:r>
              <a:t>~57 records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760720"/>
            <a:ext cx="9144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</a:defRPr>
            </a:pPr>
            <a:r>
              <a:t>Central Bank of Kenya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0807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767"/>
                </a:solidFill>
              </a:defRPr>
            </a:pPr>
            <a:r>
              <a:t>USD/KES exchange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760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Weekly</a:t>
            </a:r>
            <a:br/>
            <a:r>
              <a:t>2021-2025</a:t>
            </a:r>
            <a:br/>
            <a:r>
              <a:t>~250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Final dataset: 709 rows × 29 columns  |  5 counties  |  May 2021 — October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7. PROJECT PIPELINE — Complete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69164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691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" y="1645920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767"/>
                </a:solidFill>
              </a:defRPr>
            </a:pPr>
            <a:r>
              <a:t>5 sources:</a:t>
            </a:r>
            <a:br/>
            <a:r>
              <a:t>KAMIS, AgriBORA,</a:t>
            </a:r>
            <a:br/>
            <a:r>
              <a:t>Weather, CPI, FX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1371600"/>
            <a:ext cx="169164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39" y="1371600"/>
            <a:ext cx="16916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4679" y="1645920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79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199" y="22860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t>Data Cleaning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199" y="274320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767"/>
                </a:solidFill>
              </a:defRPr>
            </a:pPr>
            <a:r>
              <a:t>Filter, standardize,</a:t>
            </a:r>
            <a:br/>
            <a:r>
              <a:t>remove outliers,</a:t>
            </a:r>
            <a:br/>
            <a:r>
              <a:t>fill missing values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1371600"/>
            <a:ext cx="169164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59" y="1371600"/>
            <a:ext cx="16916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9" y="164592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199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2860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Feature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74320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767"/>
                </a:solidFill>
              </a:defRPr>
            </a:pPr>
            <a:r>
              <a:t>30 features: lags,</a:t>
            </a:r>
            <a:br/>
            <a:r>
              <a:t>rolling stats,</a:t>
            </a:r>
            <a:br/>
            <a:r>
              <a:t>weather, economic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79" y="1371600"/>
            <a:ext cx="169164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79" y="1371600"/>
            <a:ext cx="169164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03719" y="1645920"/>
            <a:ext cx="50292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19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2860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A580C"/>
                </a:solidFill>
              </a:defRPr>
            </a:pPr>
            <a:r>
              <a:t>Model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74320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767"/>
                </a:solidFill>
              </a:defRPr>
            </a:pPr>
            <a:r>
              <a:t>Pooled XGBoost</a:t>
            </a:r>
            <a:br/>
            <a:r>
              <a:t>Δ-price target</a:t>
            </a:r>
            <a:br/>
            <a:r>
              <a:t>Expanding window CV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371600"/>
            <a:ext cx="169164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1371600"/>
            <a:ext cx="16916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78240" y="1645920"/>
            <a:ext cx="50292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2860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5CF6"/>
                </a:solidFill>
              </a:defRPr>
            </a:pPr>
            <a:r>
              <a:t>Forecast Gen.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274320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767"/>
                </a:solidFill>
              </a:defRPr>
            </a:pPr>
            <a:r>
              <a:t>Auto-regressive</a:t>
            </a:r>
            <a:br/>
            <a:r>
              <a:t>24-week horizon</a:t>
            </a:r>
            <a:br/>
            <a:r>
              <a:t>Dampened, detrended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04120" y="1371600"/>
            <a:ext cx="169164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04120" y="1371600"/>
            <a:ext cx="1691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652760" y="1645920"/>
            <a:ext cx="5029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5276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22860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274320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767"/>
                </a:solidFill>
              </a:defRPr>
            </a:pPr>
            <a:r>
              <a:t>3-tab Streamlit app</a:t>
            </a:r>
            <a:br/>
            <a:r>
              <a:t>Farmer-friendly</a:t>
            </a:r>
            <a:br/>
            <a:r>
              <a:t>Cloud 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3160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79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19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21240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Key Technical Details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Target variable: Δ-Price = Price(week) − Price(week-1) — predicts CHANGE, not absolute price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Model: XGBoost Regressor — 300 trees, max_depth=6, learning_rate=0.05, early stopping=10 rounds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Pooled training: County dummies (one-hot encoding) let one model serve all 5 counties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Forecast: Autoregressive with frozen lag features + detrending + dampening to prevent drift</a:t>
            </a:r>
          </a:p>
          <a:p>
            <a:pPr>
              <a:spcBef>
                <a:spcPts val="300"/>
              </a:spcBef>
              <a:defRPr sz="1500" b="0">
                <a:solidFill>
                  <a:srgbClr val="374767"/>
                </a:solidFill>
              </a:defRPr>
            </a:pPr>
            <a:r>
              <a:t>• Metrics: MASE (0.322), Directional Accuracy (75.5%), MAE (2.07 KES), sMAPE (4.8%)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8. MODEL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65176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265176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MASE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6A34A"/>
                </a:solidFill>
              </a:defRPr>
            </a:pPr>
            <a:r>
              <a:t>0.322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Mean Absolute Scaled Error</a:t>
            </a:r>
            <a:br/>
            <a:r>
              <a:t>&lt; 1.0 = better than naive</a:t>
            </a:r>
            <a:br/>
            <a:r>
              <a:t>(better than guessing 'no change')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1280160"/>
            <a:ext cx="265176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28016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Directional</a:t>
            </a:r>
            <a:br/>
            <a: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828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3B82F6"/>
                </a:solidFill>
              </a:defRPr>
            </a:pPr>
            <a:r>
              <a:t>75.5%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468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Correctly predicts whether</a:t>
            </a:r>
            <a:br/>
            <a:r>
              <a:t>prices go up or down</a:t>
            </a:r>
            <a:br/>
            <a:r>
              <a:t>3 out of 4 times correct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280160"/>
            <a:ext cx="265176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28016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MAE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59E0B"/>
                </a:solidFill>
              </a:defRPr>
            </a:pPr>
            <a:r>
              <a:t>2.07 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468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Mean Absolute Error</a:t>
            </a:r>
            <a:br/>
            <a:r>
              <a:t>Typical prediction error</a:t>
            </a:r>
            <a:br/>
            <a:r>
              <a:t>≈ KES 2 per kilogram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2600" y="1280160"/>
            <a:ext cx="265176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72600" y="1280160"/>
            <a:ext cx="26517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sMAPE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828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8B5CF6"/>
                </a:solidFill>
              </a:defRPr>
            </a:pPr>
            <a:r>
              <a:t>4.8%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468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Symmetric Mean Absolute</a:t>
            </a:r>
            <a:br/>
            <a:r>
              <a:t>Percentage Error</a:t>
            </a:r>
            <a:br/>
            <a:r>
              <a:t>Under 5% = highly accurate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931920"/>
            <a:ext cx="914400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395020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County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9502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9502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Dir Acc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9502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9502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sMAPE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4297680"/>
            <a:ext cx="914400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43159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Nairobi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315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0.341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315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74.2%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315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2.41 KES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4315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5.1%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4617720"/>
            <a:ext cx="9144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463600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Mombasa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63600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0.318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63600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76.8%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63600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2.18 KES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463600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4.6%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0" y="4937759"/>
            <a:ext cx="914400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495604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Kiambu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495604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0.309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495604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75.1%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95604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1.89 KES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495604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4.4%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71600" y="5257799"/>
            <a:ext cx="9144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0" y="5276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Kirinyaga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527608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0.335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527608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73.9%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527608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1.96 KES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527608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4.9%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0" y="5577839"/>
            <a:ext cx="914400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71600" y="55961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Uasin-Gishu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0" y="559612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0.308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559612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77.5%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559612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1.72 KES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0" y="559612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67"/>
                </a:solidFill>
              </a:defRPr>
            </a:pPr>
            <a:r>
              <a:t>4.3%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608075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A34A"/>
                </a:solidFill>
              </a:defRPr>
            </a:pPr>
            <a:r>
              <a:t>Key Insight: The pooled model outperforms individual per-county models — sharing data across counties improves all metrics.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HOW FORECASTS ARE GENERATED (Multi-Step)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C2626"/>
                </a:solidFill>
              </a:defRPr>
            </a:pPr>
            <a:r>
              <a:t>The Challenge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374767"/>
                </a:solidFill>
              </a:defRPr>
            </a:pPr>
            <a:r>
              <a:t>The model predicts only ONE week ahead. To get 24 weeks: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74767"/>
                </a:solidFill>
              </a:defRPr>
            </a:pPr>
            <a:r>
              <a:t>1. Predict week 1 → feed into week 2's features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74767"/>
                </a:solidFill>
              </a:defRPr>
            </a:pPr>
            <a:r>
              <a:t>2. Predict week 2 → feed into week 3's features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74767"/>
                </a:solidFill>
              </a:defRPr>
            </a:pPr>
            <a:r>
              <a:t>3. Repeat 24 times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DC2626"/>
                </a:solidFill>
              </a:defRPr>
            </a:pPr>
            <a:r>
              <a:t>Problem: Error Compounding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74767"/>
                </a:solidFill>
              </a:defRPr>
            </a:pPr>
            <a:r>
              <a:t>A slightly-high prediction in week 1 makes week 2's features too high, making week 2's prediction even higher — creating an upward spiral. This is called autoregressive forecast drift.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A34A"/>
                </a:solidFill>
              </a:defRPr>
            </a:pPr>
            <a:r>
              <a:t>Our 3 Fixes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3B82F6"/>
                </a:solidFill>
              </a:defRPr>
            </a:pPr>
            <a:r>
              <a:t>A. Freeze Trend Features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374767"/>
                </a:solidFill>
              </a:defRPr>
            </a:pPr>
            <a:r>
              <a:t>Lag features captured once from actual data and frozen. Predicted prices are NOT fed back into these features.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3B82F6"/>
                </a:solidFill>
              </a:defRPr>
            </a:pPr>
            <a:r>
              <a:t>B. Detrend (Remove Inflation Bias)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374767"/>
                </a:solidFill>
              </a:defRPr>
            </a:pPr>
            <a:r>
              <a:t>Subtract recent average weekly change from predictions — only unexpected movements matter.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3B82F6"/>
                </a:solidFill>
              </a:defRPr>
            </a:pPr>
            <a:r>
              <a:t>C. Dampen Long-Term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374767"/>
                </a:solidFill>
              </a:defRPr>
            </a:pPr>
            <a:r>
              <a:t>Week 1: 100% signal → Week 12: 70% → Week 24: 40%. Far-out predictions pull toward current price.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8B5CF6"/>
                </a:solidFill>
              </a:defRPr>
            </a:pPr>
            <a:r>
              <a:t>Confidence Bands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374767"/>
                </a:solidFill>
              </a:defRPr>
            </a:pPr>
            <a:r>
              <a:t>80% CI: Forecast ± 0.8 × 1.28 × √(week). Wider for longer horizons — reflects growing uncertainty.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9. DASHBOARD DEMONSTRATION — Practical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5303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📈 Tab 1:</a:t>
            </a:r>
            <a:br/>
            <a:r>
              <a:t>Price Forecast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767"/>
                </a:solidFill>
              </a:defRPr>
            </a:pPr>
            <a:r>
              <a:t>How to use:</a:t>
            </a:r>
            <a:br/>
            <a:r>
              <a:t>• Select county from sidebar dropdown</a:t>
            </a:r>
            <a:br/>
            <a:r>
              <a:t>• Adjust forecast horizon slider (8-30 weeks)</a:t>
            </a:r>
            <a:br/>
            <a:br/>
            <a:r>
              <a:t>What you see:</a:t>
            </a:r>
            <a:br/>
            <a:r>
              <a:t>• Signal banner: 🚀 Rising / 🔻 Falling / ➡️ Stable</a:t>
            </a:r>
            <a:br/>
            <a:r>
              <a:t>• Plain-language advice: "Sell now" / "Buy now" / "Wait"</a:t>
            </a:r>
            <a:br/>
            <a:r>
              <a:t>• Forecast chart: past (blue) + forecast (red dashed) + confidence band</a:t>
            </a:r>
            <a:br/>
            <a:r>
              <a:t>• Table: week-by-week predicted prices with change arrows</a:t>
            </a:r>
            <a:br/>
            <a:br/>
            <a:r>
              <a:t>Farmer takeaway: "Prices rising in Nairobi. SELL."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566160" cy="5303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🏪 Tab 2:</a:t>
            </a:r>
            <a:br/>
            <a:r>
              <a:t>Compare Markets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767"/>
                </a:solidFill>
              </a:defRPr>
            </a:pPr>
            <a:r>
              <a:t>How to use:</a:t>
            </a:r>
            <a:br/>
            <a:r>
              <a:t>• Automatically shows all 5 counties</a:t>
            </a:r>
            <a:br/>
            <a:br/>
            <a:r>
              <a:t>What you see:</a:t>
            </a:r>
            <a:br/>
            <a:r>
              <a:t>• 🏪 Best market to SELL (highest price, green card)</a:t>
            </a:r>
            <a:br/>
            <a:r>
              <a:t>• 🛒 Best market to BUY (lowest price, blue card)</a:t>
            </a:r>
            <a:br/>
            <a:r>
              <a:t>• Multi-county forecast comparison chart</a:t>
            </a:r>
            <a:br/>
            <a:r>
              <a:t>• Ranked table by current and forecasted price</a:t>
            </a:r>
            <a:br/>
            <a:br/>
            <a:r>
              <a:t>Farmer takeaway: "Sell in Mombasa at KES 48, buy in Uasin-Gishu at KES 35."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280160"/>
            <a:ext cx="3566160" cy="5303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566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63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🗓 Tab 3:</a:t>
            </a:r>
            <a:br/>
            <a:r>
              <a:t>Best Time &amp; Tips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767"/>
                </a:solidFill>
              </a:defRPr>
            </a:pPr>
            <a:r>
              <a:t>How to use:</a:t>
            </a:r>
            <a:br/>
            <a:r>
              <a:t>• Automatically computed from historical data</a:t>
            </a:r>
            <a:br/>
            <a:br/>
            <a:r>
              <a:t>What you see:</a:t>
            </a:r>
            <a:br/>
            <a:r>
              <a:t>• Best month to sell (peak price month)</a:t>
            </a:r>
            <a:br/>
            <a:r>
              <a:t>• Best month to buy (trough price month)</a:t>
            </a:r>
            <a:br/>
            <a:r>
              <a:t>• Monthly price bar chart (green/red)</a:t>
            </a:r>
            <a:br/>
            <a:r>
              <a:t>• Year-over-year comparison chart</a:t>
            </a:r>
            <a:br/>
            <a:r>
              <a:t>• Tips cards: advice for farmers vs families</a:t>
            </a:r>
            <a:br/>
            <a:r>
              <a:t>• Simple price drivers explanation</a:t>
            </a:r>
            <a:br/>
            <a:br/>
            <a:r>
              <a:t>Farmer takeaway: "Best to sell in January, buy in August."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LIVE DEMONSTRATION — How to Walk Through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47472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34747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Step 1</a:t>
            </a:r>
            <a:br/>
            <a:r>
              <a:t>Open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767"/>
                </a:solidFill>
              </a:defRPr>
            </a:pPr>
            <a:r>
              <a:t>Launch the Streamlit app in browser.</a:t>
            </a:r>
            <a:br/>
            <a:r>
              <a:t>URL: *.streamlit.app</a:t>
            </a:r>
            <a:br/>
            <a:r>
              <a:t>(or run locally: streamlit run src/dashboard/app.py)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280160"/>
            <a:ext cx="347472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28016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41731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Step 2</a:t>
            </a:r>
            <a:br/>
            <a:r>
              <a:t>Select County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767"/>
                </a:solidFill>
              </a:defRPr>
            </a:pPr>
            <a:r>
              <a:t>Sidebar dropdown → pick Nairobi.</a:t>
            </a:r>
            <a:br/>
            <a:r>
              <a:t>Observe: Current price KPI, 4-week trend,</a:t>
            </a:r>
            <a:br/>
            <a:r>
              <a:t>all-time price range update automatically.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47472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41731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Step 3</a:t>
            </a:r>
            <a:br/>
            <a:r>
              <a:t>Adjust Forecast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767"/>
                </a:solidFill>
              </a:defRPr>
            </a:pPr>
            <a:r>
              <a:t>Sidebar slider → set to 24 weeks.</a:t>
            </a:r>
            <a:br/>
            <a:r>
              <a:t>Observe: Forecast chart extends to 2026,</a:t>
            </a:r>
            <a:br/>
            <a:r>
              <a:t>confidence bands widen over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347472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A580C"/>
                </a:solidFill>
              </a:defRPr>
            </a:pPr>
            <a:r>
              <a:t>Step 4</a:t>
            </a:r>
            <a:br/>
            <a:r>
              <a:t>Read the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767"/>
                </a:solidFill>
              </a:defRPr>
            </a:pPr>
            <a:r>
              <a:t>Tab 1: Check signal banner color &amp; text.</a:t>
            </a:r>
            <a:br/>
            <a:r>
              <a:t>Read advice: Is it telling farmers to sell?</a:t>
            </a:r>
            <a:br/>
            <a:r>
              <a:t>Check the forecast table for weekly prices.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4023360"/>
            <a:ext cx="347472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402336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1605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Step 5</a:t>
            </a:r>
            <a:br/>
            <a:r>
              <a:t>Compare Markets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8463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767"/>
                </a:solidFill>
              </a:defRPr>
            </a:pPr>
            <a:r>
              <a:t>Tab 2: See which county has the</a:t>
            </a:r>
            <a:br/>
            <a:r>
              <a:t>highest/lowest price. Best sell vs best</a:t>
            </a:r>
            <a:br/>
            <a:r>
              <a:t>buy markets highlighted.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023360"/>
            <a:ext cx="347472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1605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Step 6</a:t>
            </a:r>
            <a:br/>
            <a:r>
              <a:t>Seasonal Advice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463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767"/>
                </a:solidFill>
              </a:defRPr>
            </a:pPr>
            <a:r>
              <a:t>Tab 3: Best month to sell/buy.</a:t>
            </a:r>
            <a:br/>
            <a:r>
              <a:t>Monthly price guide. Tips cards</a:t>
            </a:r>
            <a:br/>
            <a:r>
              <a:t>for farmers and families.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3A5F"/>
                </a:solidFill>
              </a:defRPr>
            </a:pPr>
            <a:r>
              <a:t>Total time: ~5 minutes  |  No technical knowledge needed to use the dashboard  |  Designed for farmers, traders, and policymakers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10.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</a:defRPr>
            </a:pPr>
            <a:r>
              <a:t>⚠ Data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767"/>
                </a:solidFill>
              </a:defRPr>
            </a:pPr>
            <a:r>
              <a:t>Only 5 counties out of 47. Limited to 2021-2025 (5 years). Missing real-time data updates — forecasts use cached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47472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</a:defRPr>
            </a:pPr>
            <a:r>
              <a:t>⚠ Forecast Horizon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01168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767"/>
                </a:solidFill>
              </a:defRPr>
            </a:pPr>
            <a:r>
              <a:t>Accuracy decreases for longer horizons. Beyond 12 weeks, confidence bands widen significantly. Model predicts Δ-price, so occasional drift remains possible.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⚠ External Factors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01168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767"/>
                </a:solidFill>
              </a:defRPr>
            </a:pPr>
            <a:r>
              <a:t>Does not account for: government policy changes (import permits, tariffs), geopolitical events, major weather disasters, disease outbreaks (e.g., Fall Armyworm), fertilizer subsidy programs.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347472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⚠ Model 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634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767"/>
                </a:solidFill>
              </a:defRPr>
            </a:pPr>
            <a:r>
              <a:t>No causal inference — correlation ≠ causation. County dummies capture level differences but not structural market changes. Assumes historical patterns continue.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4023360"/>
            <a:ext cx="347472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402336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79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⚠ Data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6634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767"/>
                </a:solidFill>
              </a:defRPr>
            </a:pPr>
            <a:r>
              <a:t>KAMIS data is self-reported by markets — may contain errors. AgriBORA data is transaction-based but limited coverage. Weather data from API, not ground stations.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023360"/>
            <a:ext cx="347472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4747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</a:defRPr>
            </a:pPr>
            <a:r>
              <a:t>⚠ Technical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6634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767"/>
                </a:solidFill>
              </a:defRPr>
            </a:pPr>
            <a:r>
              <a:t>Dashboard requires internet (Streamlit Cloud). Free tier has limited compute. No mobile app — web-only. No SMS/USSD for offline farmers.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11.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767"/>
                </a:solidFill>
              </a:defRPr>
            </a:pPr>
            <a:r>
              <a:t>Planned improvements and extensions to the system: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🌍 Expand to All 47 Counties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767"/>
                </a:solidFill>
              </a:defRPr>
            </a:pPr>
            <a:r>
              <a:t>Scale the model from 5 to all 47 Kenyan counties using the full KAMIS dataset. This would provide nationwide coverage.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2011680"/>
            <a:ext cx="73152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</a:defRPr>
            </a:pPr>
            <a:r>
              <a:t>📱 Mobile &amp; SMS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377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767"/>
                </a:solidFill>
              </a:defRPr>
            </a:pPr>
            <a:r>
              <a:t>Build a mobile-friendly version and SMS notification system so farmers without smartphones can receive price alerts and forecasts.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011680"/>
            <a:ext cx="73152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</a:defRPr>
            </a:pPr>
            <a:r>
              <a:t>🔮 Multi-Model Ensemble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77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767"/>
                </a:solidFill>
              </a:defRPr>
            </a:pPr>
            <a:r>
              <a:t>Add additional model types (LightGBM, Random Forest, LSTM) and ensemble them for improved accuracy and robustness.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73152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566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</a:defRPr>
            </a:pPr>
            <a:r>
              <a:t>📡 Real-Time Data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31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767"/>
                </a:solidFill>
              </a:defRPr>
            </a:pPr>
            <a:r>
              <a:t>Automate weekly data ingestion from KAMIS/AgriBORA APIs so forecasts update automatically every week without manual intervention.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356616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3566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🌾 Crop-Specific 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3931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767"/>
                </a:solidFill>
              </a:defRPr>
            </a:pPr>
            <a:r>
              <a:t>Extend forecasting to other staple crops: beans, rice, potatoes, and wheat. The same pipeline can be adapted with minimal changes.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566160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3566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</a:defRPr>
            </a:pPr>
            <a:r>
              <a:t>📊 Advanced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931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767"/>
                </a:solidFill>
              </a:defRPr>
            </a:pPr>
            <a:r>
              <a:t>Add feature importance analysis, partial dependence plots, what-if scenario modeling, and automated insight generation.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DE68A"/>
                </a:solidFill>
              </a:defRPr>
            </a:pPr>
            <a:r>
              <a:t>Summary of Achievements</a:t>
            </a:r>
          </a:p>
          <a:p>
            <a:pPr algn="ctr">
              <a:spcBef>
                <a:spcPts val="1600"/>
              </a:spcBef>
              <a:defRPr sz="1800" b="0">
                <a:solidFill>
                  <a:srgbClr val="FFFFFF"/>
                </a:solidFill>
              </a:defRPr>
            </a:pPr>
            <a:r>
              <a:t>✓ Pooled XGBoost model achieving MASE = 0.322 and 75.5% directional accuracy</a:t>
            </a:r>
          </a:p>
          <a:p>
            <a:pPr algn="ctr">
              <a:spcBef>
                <a:spcPts val="600"/>
              </a:spcBef>
              <a:defRPr sz="1800" b="0">
                <a:solidFill>
                  <a:srgbClr val="FFFFFF"/>
                </a:solidFill>
              </a:defRPr>
            </a:pPr>
            <a:r>
              <a:t>✓ County-level forecasts with 80% confidence intervals for 5 Kenyan counties</a:t>
            </a:r>
          </a:p>
          <a:p>
            <a:pPr algn="ctr">
              <a:spcBef>
                <a:spcPts val="600"/>
              </a:spcBef>
              <a:defRPr sz="1800" b="0">
                <a:solidFill>
                  <a:srgbClr val="FFFFFF"/>
                </a:solidFill>
              </a:defRPr>
            </a:pPr>
            <a:r>
              <a:t>✓ Farmer-centric interactive dashboard with plain-language advice</a:t>
            </a:r>
          </a:p>
          <a:p>
            <a:pPr algn="ctr">
              <a:spcBef>
                <a:spcPts val="600"/>
              </a:spcBef>
              <a:defRPr sz="1800" b="0">
                <a:solidFill>
                  <a:srgbClr val="FFFFFF"/>
                </a:solidFill>
              </a:defRPr>
            </a:pPr>
            <a:r>
              <a:t>✓ Deployed on Streamlit Cloud for public access</a:t>
            </a:r>
          </a:p>
          <a:p>
            <a:pPr algn="ctr">
              <a:spcBef>
                <a:spcPts val="600"/>
              </a:spcBef>
              <a:defRPr sz="1800" b="0">
                <a:solidFill>
                  <a:srgbClr val="FFFFFF"/>
                </a:solidFill>
              </a:defRPr>
            </a:pPr>
            <a:r>
              <a:t>✓ Comprehensive system with 30 features, 5 data sources, 24-week forecast horizon</a:t>
            </a:r>
          </a:p>
          <a:p>
            <a:pPr algn="l">
              <a:spcBef>
                <a:spcPts val="2400"/>
              </a:spcBef>
              <a:defRPr sz="1200" b="0">
                <a:solidFill>
                  <a:srgbClr val="FFFFFF"/>
                </a:solidFill>
              </a:defRPr>
            </a:pPr>
          </a:p>
          <a:p>
            <a:pPr algn="ctr">
              <a:spcBef>
                <a:spcPts val="400"/>
              </a:spcBef>
              <a:defRPr sz="1600" b="0">
                <a:solidFill>
                  <a:srgbClr val="93C5FD"/>
                </a:solidFill>
              </a:defRPr>
            </a:pPr>
            <a:r>
              <a:t>📧 Contact information  |  📍 Nairobi, Kenya</a:t>
            </a:r>
          </a:p>
          <a:p>
            <a:pPr algn="ctr">
              <a:spcBef>
                <a:spcPts val="400"/>
              </a:spcBef>
              <a:defRPr sz="1600" b="0">
                <a:solidFill>
                  <a:srgbClr val="93C5FD"/>
                </a:solidFill>
              </a:defRPr>
            </a:pPr>
            <a:r>
              <a:t>🌽 Maize Price Forecasting System  •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